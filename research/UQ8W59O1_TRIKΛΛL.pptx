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40A20"/>
        </a:solidFill>
        <a:effectLst/>
        <a:uFillTx/>
        <a:latin typeface="+mn-lt"/>
        <a:ea typeface="+mn-ea"/>
        <a:cs typeface="+mn-cs"/>
        <a:sym typeface="Calibri" panose="020F0502020204030204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40A20"/>
        </a:solidFill>
        <a:effectLst/>
        <a:uFillTx/>
        <a:latin typeface="+mn-lt"/>
        <a:ea typeface="+mn-ea"/>
        <a:cs typeface="+mn-cs"/>
        <a:sym typeface="Calibri" panose="020F0502020204030204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40A20"/>
        </a:solidFill>
        <a:effectLst/>
        <a:uFillTx/>
        <a:latin typeface="+mn-lt"/>
        <a:ea typeface="+mn-ea"/>
        <a:cs typeface="+mn-cs"/>
        <a:sym typeface="Calibri" panose="020F0502020204030204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40A20"/>
        </a:solidFill>
        <a:effectLst/>
        <a:uFillTx/>
        <a:latin typeface="+mn-lt"/>
        <a:ea typeface="+mn-ea"/>
        <a:cs typeface="+mn-cs"/>
        <a:sym typeface="Calibri" panose="020F0502020204030204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40A20"/>
        </a:solidFill>
        <a:effectLst/>
        <a:uFillTx/>
        <a:latin typeface="+mn-lt"/>
        <a:ea typeface="+mn-ea"/>
        <a:cs typeface="+mn-cs"/>
        <a:sym typeface="Calibri" panose="020F0502020204030204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40A20"/>
        </a:solidFill>
        <a:effectLst/>
        <a:uFillTx/>
        <a:latin typeface="+mn-lt"/>
        <a:ea typeface="+mn-ea"/>
        <a:cs typeface="+mn-cs"/>
        <a:sym typeface="Calibri" panose="020F0502020204030204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40A20"/>
        </a:solidFill>
        <a:effectLst/>
        <a:uFillTx/>
        <a:latin typeface="+mn-lt"/>
        <a:ea typeface="+mn-ea"/>
        <a:cs typeface="+mn-cs"/>
        <a:sym typeface="Calibri" panose="020F0502020204030204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40A20"/>
        </a:solidFill>
        <a:effectLst/>
        <a:uFillTx/>
        <a:latin typeface="+mn-lt"/>
        <a:ea typeface="+mn-ea"/>
        <a:cs typeface="+mn-cs"/>
        <a:sym typeface="Calibri" panose="020F0502020204030204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40A20"/>
        </a:solidFill>
        <a:effectLst/>
        <a:uFillTx/>
        <a:latin typeface="+mn-lt"/>
        <a:ea typeface="+mn-ea"/>
        <a:cs typeface="+mn-cs"/>
        <a:sym typeface="Calibri" panose="020F050202020403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44" name="Shape 44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solidFill>
          <a:srgbClr val="040A20"/>
        </a:solidFill>
        <a:latin typeface="+mn-lt"/>
        <a:ea typeface="+mn-ea"/>
        <a:cs typeface="+mn-cs"/>
        <a:sym typeface="Calibri" panose="020F0502020204030204"/>
      </a:defRPr>
    </a:lvl1pPr>
    <a:lvl2pPr indent="228600" latinLnBrk="0">
      <a:defRPr sz="1200">
        <a:solidFill>
          <a:srgbClr val="040A20"/>
        </a:solidFill>
        <a:latin typeface="+mn-lt"/>
        <a:ea typeface="+mn-ea"/>
        <a:cs typeface="+mn-cs"/>
        <a:sym typeface="Calibri" panose="020F0502020204030204"/>
      </a:defRPr>
    </a:lvl2pPr>
    <a:lvl3pPr indent="457200" latinLnBrk="0">
      <a:defRPr sz="1200">
        <a:solidFill>
          <a:srgbClr val="040A20"/>
        </a:solidFill>
        <a:latin typeface="+mn-lt"/>
        <a:ea typeface="+mn-ea"/>
        <a:cs typeface="+mn-cs"/>
        <a:sym typeface="Calibri" panose="020F0502020204030204"/>
      </a:defRPr>
    </a:lvl3pPr>
    <a:lvl4pPr indent="685800" latinLnBrk="0">
      <a:defRPr sz="1200">
        <a:solidFill>
          <a:srgbClr val="040A20"/>
        </a:solidFill>
        <a:latin typeface="+mn-lt"/>
        <a:ea typeface="+mn-ea"/>
        <a:cs typeface="+mn-cs"/>
        <a:sym typeface="Calibri" panose="020F0502020204030204"/>
      </a:defRPr>
    </a:lvl4pPr>
    <a:lvl5pPr indent="914400" latinLnBrk="0">
      <a:defRPr sz="1200">
        <a:solidFill>
          <a:srgbClr val="040A20"/>
        </a:solidFill>
        <a:latin typeface="+mn-lt"/>
        <a:ea typeface="+mn-ea"/>
        <a:cs typeface="+mn-cs"/>
        <a:sym typeface="Calibri" panose="020F0502020204030204"/>
      </a:defRPr>
    </a:lvl5pPr>
    <a:lvl6pPr indent="1143000" latinLnBrk="0">
      <a:defRPr sz="1200">
        <a:solidFill>
          <a:srgbClr val="040A20"/>
        </a:solidFill>
        <a:latin typeface="+mn-lt"/>
        <a:ea typeface="+mn-ea"/>
        <a:cs typeface="+mn-cs"/>
        <a:sym typeface="Calibri" panose="020F0502020204030204"/>
      </a:defRPr>
    </a:lvl6pPr>
    <a:lvl7pPr indent="1371600" latinLnBrk="0">
      <a:defRPr sz="1200">
        <a:solidFill>
          <a:srgbClr val="040A20"/>
        </a:solidFill>
        <a:latin typeface="+mn-lt"/>
        <a:ea typeface="+mn-ea"/>
        <a:cs typeface="+mn-cs"/>
        <a:sym typeface="Calibri" panose="020F0502020204030204"/>
      </a:defRPr>
    </a:lvl7pPr>
    <a:lvl8pPr indent="1600200" latinLnBrk="0">
      <a:defRPr sz="1200">
        <a:solidFill>
          <a:srgbClr val="040A20"/>
        </a:solidFill>
        <a:latin typeface="+mn-lt"/>
        <a:ea typeface="+mn-ea"/>
        <a:cs typeface="+mn-cs"/>
        <a:sym typeface="Calibri" panose="020F0502020204030204"/>
      </a:defRPr>
    </a:lvl8pPr>
    <a:lvl9pPr indent="1828800" latinLnBrk="0">
      <a:defRPr sz="1200">
        <a:solidFill>
          <a:srgbClr val="040A20"/>
        </a:solidFill>
        <a:latin typeface="+mn-lt"/>
        <a:ea typeface="+mn-ea"/>
        <a:cs typeface="+mn-cs"/>
        <a:sym typeface="Calibri" panose="020F0502020204030204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HYPNEXIS_TITLE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HYPNEXIS_CONTENT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 0" descr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2608"/>
            <a:ext cx="1105163" cy="50292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6" name="Text 0"/>
          <p:cNvSpPr txBox="1"/>
          <p:nvPr/>
        </p:nvSpPr>
        <p:spPr>
          <a:xfrm>
            <a:off x="2926079" y="474725"/>
            <a:ext cx="8778242" cy="14783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r">
              <a:defRPr sz="1100" spc="300">
                <a:solidFill>
                  <a:schemeClr val="accent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t>36-HOUR HACKATHON  |  24–25 OCTOBER 2026  |  MANIPAL UNIVERSITY JAIPUR</a:t>
            </a:r>
          </a:p>
        </p:txBody>
      </p:sp>
      <p:sp>
        <p:nvSpPr>
          <p:cNvPr id="27" name="Shape 1"/>
          <p:cNvSpPr/>
          <p:nvPr/>
        </p:nvSpPr>
        <p:spPr>
          <a:xfrm>
            <a:off x="457199" y="6353301"/>
            <a:ext cx="11274554" cy="12701"/>
          </a:xfrm>
          <a:prstGeom prst="rect">
            <a:avLst/>
          </a:prstGeom>
          <a:solidFill>
            <a:schemeClr val="accent1">
              <a:alpha val="50000"/>
            </a:schemeClr>
          </a:solidFill>
          <a:ln w="12700">
            <a:miter lim="400000"/>
          </a:ln>
        </p:spPr>
        <p:txBody>
          <a:bodyPr lIns="45719" rIns="45719"/>
          <a:lstStyle/>
          <a:p/>
        </p:txBody>
      </p:sp>
      <p:sp>
        <p:nvSpPr>
          <p:cNvPr id="28" name="Text 2"/>
          <p:cNvSpPr txBox="1"/>
          <p:nvPr/>
        </p:nvSpPr>
        <p:spPr>
          <a:xfrm>
            <a:off x="457200" y="6496856"/>
            <a:ext cx="8229600" cy="13707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r>
              <a:t>Department of Computer and Communications Engineering  •  Manipal University Jaipur</a:t>
            </a:r>
          </a:p>
        </p:txBody>
      </p:sp>
      <p:sp>
        <p:nvSpPr>
          <p:cNvPr id="29" name="Slide Number"/>
          <p:cNvSpPr txBox="1"/>
          <p:nvPr>
            <p:ph type="sldNum" sz="quarter" idx="2"/>
          </p:nvPr>
        </p:nvSpPr>
        <p:spPr>
          <a:xfrm>
            <a:off x="11486349" y="6428232"/>
            <a:ext cx="245404" cy="226986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HYPNEXIS_SECTION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Image 0" descr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2608"/>
            <a:ext cx="1005840" cy="4572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92800" y="6356350"/>
            <a:ext cx="2844800" cy="36830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chemeClr val="accent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40A20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40A20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40A20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40A20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40A20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40A20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40A20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40A20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40A20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solidFill>
            <a:srgbClr val="040A20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783590" marR="0" indent="-32639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solidFill>
            <a:srgbClr val="040A20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solidFill>
            <a:srgbClr val="040A20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solidFill>
            <a:srgbClr val="040A20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»"/>
        <a:defRPr sz="3200" b="0" i="0" u="none" strike="noStrike" cap="none" spc="0" baseline="0">
          <a:solidFill>
            <a:srgbClr val="040A20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solidFill>
            <a:srgbClr val="040A20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solidFill>
            <a:srgbClr val="040A20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35661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solidFill>
            <a:srgbClr val="040A20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4023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solidFill>
            <a:srgbClr val="040A20"/>
          </a:solidFill>
          <a:uFillTx/>
          <a:latin typeface="+mn-lt"/>
          <a:ea typeface="+mn-ea"/>
          <a:cs typeface="+mn-cs"/>
          <a:sym typeface="Calibri" panose="020F0502020204030204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0"/>
          <p:cNvSpPr txBox="1"/>
          <p:nvPr/>
        </p:nvSpPr>
        <p:spPr>
          <a:xfrm>
            <a:off x="548640" y="427088"/>
            <a:ext cx="6400801" cy="19738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400" b="1" spc="40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t>MANIPAL UNIVERSITY JAIPUR</a:t>
            </a:r>
          </a:p>
        </p:txBody>
      </p:sp>
      <p:sp>
        <p:nvSpPr>
          <p:cNvPr id="47" name="Text 1"/>
          <p:cNvSpPr txBox="1"/>
          <p:nvPr/>
        </p:nvSpPr>
        <p:spPr>
          <a:xfrm>
            <a:off x="548640" y="744527"/>
            <a:ext cx="7315201" cy="15686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r>
              <a:t>Department of Computer and Communications Engineering</a:t>
            </a:r>
          </a:p>
        </p:txBody>
      </p:sp>
      <p:pic>
        <p:nvPicPr>
          <p:cNvPr id="48" name="Image 0" descr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5120641" cy="233022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9" name="Text 2"/>
          <p:cNvSpPr txBox="1"/>
          <p:nvPr/>
        </p:nvSpPr>
        <p:spPr>
          <a:xfrm>
            <a:off x="548640" y="4578668"/>
            <a:ext cx="6400801" cy="2152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400" b="1" spc="300">
                <a:solidFill>
                  <a:schemeClr val="accen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rPr lang="en-IN"/>
              <a:t>G</a:t>
            </a:r>
            <a:r>
              <a:t>36-HOUR HACKATHON  •  24–25 OCTOBER 2026</a:t>
            </a:r>
          </a:p>
        </p:txBody>
      </p:sp>
      <p:sp>
        <p:nvSpPr>
          <p:cNvPr id="50" name="Text 3"/>
          <p:cNvSpPr txBox="1"/>
          <p:nvPr/>
        </p:nvSpPr>
        <p:spPr>
          <a:xfrm>
            <a:off x="548640" y="4942792"/>
            <a:ext cx="6400801" cy="17281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200" spc="40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t>BUILD / INNOVATE / CREATE</a:t>
            </a:r>
          </a:p>
        </p:txBody>
      </p:sp>
      <p:sp>
        <p:nvSpPr>
          <p:cNvPr id="51" name="Team details card"/>
          <p:cNvSpPr/>
          <p:nvPr/>
        </p:nvSpPr>
        <p:spPr>
          <a:xfrm>
            <a:off x="6949440" y="1371600"/>
            <a:ext cx="4754881" cy="4480560"/>
          </a:xfrm>
          <a:prstGeom prst="roundRect">
            <a:avLst>
              <a:gd name="adj" fmla="val 2449"/>
            </a:avLst>
          </a:prstGeom>
          <a:solidFill>
            <a:srgbClr val="0B1A4A">
              <a:alpha val="75000"/>
            </a:srgbClr>
          </a:solidFill>
          <a:ln w="12700">
            <a:solidFill>
              <a:schemeClr val="accent1"/>
            </a:solidFill>
          </a:ln>
        </p:spPr>
        <p:txBody>
          <a:bodyPr lIns="45719" rIns="45719"/>
          <a:lstStyle/>
          <a:p/>
        </p:txBody>
      </p:sp>
      <p:sp>
        <p:nvSpPr>
          <p:cNvPr id="52" name="Text 5"/>
          <p:cNvSpPr txBox="1"/>
          <p:nvPr/>
        </p:nvSpPr>
        <p:spPr>
          <a:xfrm>
            <a:off x="7223759" y="1608581"/>
            <a:ext cx="4297681" cy="14783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100" b="1" spc="200">
                <a:solidFill>
                  <a:schemeClr val="accen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t>TEAM NAME</a:t>
            </a:r>
          </a:p>
        </p:txBody>
      </p:sp>
      <p:sp>
        <p:nvSpPr>
          <p:cNvPr id="53" name="Text 6"/>
          <p:cNvSpPr txBox="1"/>
          <p:nvPr/>
        </p:nvSpPr>
        <p:spPr>
          <a:xfrm>
            <a:off x="7223759" y="1870527"/>
            <a:ext cx="4297681" cy="20915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r>
              <a:t>TRIKΛΛL</a:t>
            </a:r>
          </a:p>
        </p:txBody>
      </p:sp>
      <p:sp>
        <p:nvSpPr>
          <p:cNvPr id="54" name="Text 7"/>
          <p:cNvSpPr txBox="1"/>
          <p:nvPr/>
        </p:nvSpPr>
        <p:spPr>
          <a:xfrm>
            <a:off x="7223759" y="2292985"/>
            <a:ext cx="4297681" cy="16891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100" b="1" spc="200">
                <a:solidFill>
                  <a:schemeClr val="accen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t>TEAM ID</a:t>
            </a:r>
            <a:endParaRPr lang="en-IN"/>
          </a:p>
        </p:txBody>
      </p:sp>
      <p:sp>
        <p:nvSpPr>
          <p:cNvPr id="55" name="Text 9"/>
          <p:cNvSpPr txBox="1"/>
          <p:nvPr/>
        </p:nvSpPr>
        <p:spPr>
          <a:xfrm>
            <a:off x="7223759" y="2998469"/>
            <a:ext cx="4297681" cy="14783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100" b="1" spc="200">
                <a:solidFill>
                  <a:schemeClr val="accen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t>PROBLEM STATEMENT ID</a:t>
            </a:r>
          </a:p>
        </p:txBody>
      </p:sp>
      <p:sp>
        <p:nvSpPr>
          <p:cNvPr id="56" name="Text 10"/>
          <p:cNvSpPr txBox="1"/>
          <p:nvPr/>
        </p:nvSpPr>
        <p:spPr>
          <a:xfrm>
            <a:off x="7223759" y="3260415"/>
            <a:ext cx="4297681" cy="20915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r>
              <a:t>HM02</a:t>
            </a:r>
          </a:p>
        </p:txBody>
      </p:sp>
      <p:sp>
        <p:nvSpPr>
          <p:cNvPr id="57" name="Text 11"/>
          <p:cNvSpPr txBox="1"/>
          <p:nvPr/>
        </p:nvSpPr>
        <p:spPr>
          <a:xfrm>
            <a:off x="7223759" y="3693412"/>
            <a:ext cx="4297681" cy="14783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100" b="1" spc="200">
                <a:solidFill>
                  <a:schemeClr val="accen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t>PROBLEM STATEMENT TITLE</a:t>
            </a:r>
          </a:p>
        </p:txBody>
      </p:sp>
      <p:sp>
        <p:nvSpPr>
          <p:cNvPr id="58" name="Text 12"/>
          <p:cNvSpPr txBox="1"/>
          <p:nvPr/>
        </p:nvSpPr>
        <p:spPr>
          <a:xfrm>
            <a:off x="7223759" y="3965256"/>
            <a:ext cx="4297681" cy="18936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r>
              <a:t>Prescription Safety Checker for Indian Brand Medicines</a:t>
            </a:r>
          </a:p>
        </p:txBody>
      </p:sp>
      <p:sp>
        <p:nvSpPr>
          <p:cNvPr id="59" name="Text 13"/>
          <p:cNvSpPr txBox="1"/>
          <p:nvPr/>
        </p:nvSpPr>
        <p:spPr>
          <a:xfrm>
            <a:off x="7223759" y="4388356"/>
            <a:ext cx="4297681" cy="14783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100" b="1" spc="200">
                <a:solidFill>
                  <a:schemeClr val="accen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t>THEME / DOMAIN</a:t>
            </a:r>
          </a:p>
        </p:txBody>
      </p:sp>
      <p:sp>
        <p:nvSpPr>
          <p:cNvPr id="60" name="Text 14"/>
          <p:cNvSpPr txBox="1"/>
          <p:nvPr/>
        </p:nvSpPr>
        <p:spPr>
          <a:xfrm>
            <a:off x="7223759" y="4650303"/>
            <a:ext cx="4297681" cy="20915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r>
              <a:t>Healthcare &amp; MedTech</a:t>
            </a:r>
          </a:p>
        </p:txBody>
      </p:sp>
      <p:sp>
        <p:nvSpPr>
          <p:cNvPr id="61" name="Text 15"/>
          <p:cNvSpPr txBox="1"/>
          <p:nvPr/>
        </p:nvSpPr>
        <p:spPr>
          <a:xfrm>
            <a:off x="7223759" y="5083300"/>
            <a:ext cx="4297681" cy="14783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100" b="1" spc="200">
                <a:solidFill>
                  <a:schemeClr val="accen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t>CATEGORY</a:t>
            </a:r>
          </a:p>
        </p:txBody>
      </p:sp>
      <p:sp>
        <p:nvSpPr>
          <p:cNvPr id="62" name="Text 16"/>
          <p:cNvSpPr txBox="1"/>
          <p:nvPr/>
        </p:nvSpPr>
        <p:spPr>
          <a:xfrm>
            <a:off x="7223759" y="5345247"/>
            <a:ext cx="4297681" cy="20915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r>
              <a:t>Software</a:t>
            </a:r>
          </a:p>
        </p:txBody>
      </p:sp>
      <p:sp>
        <p:nvSpPr>
          <p:cNvPr id="63" name="Text 17"/>
          <p:cNvSpPr txBox="1"/>
          <p:nvPr/>
        </p:nvSpPr>
        <p:spPr>
          <a:xfrm>
            <a:off x="548639" y="6425105"/>
            <a:ext cx="11064242" cy="13426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r>
              <a:t>hypnexismuj.com   |   @hypnexis.muj   |   hypnexis2026@muj.manipal.edu</a:t>
            </a:r>
          </a:p>
        </p:txBody>
      </p:sp>
      <p:sp>
        <p:nvSpPr>
          <p:cNvPr id="64" name="Project name line"/>
          <p:cNvSpPr txBox="1"/>
          <p:nvPr/>
        </p:nvSpPr>
        <p:spPr>
          <a:xfrm>
            <a:off x="548640" y="5502008"/>
            <a:ext cx="6400801" cy="19738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400" b="1" spc="300">
                <a:solidFill>
                  <a:schemeClr val="accen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t>PROJECT: AushNexa  •  IN DEVELOPMENT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7221220" y="2503805"/>
            <a:ext cx="1539240" cy="33464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IN" altLang="en-GB" sz="1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UQ8W59O1</a:t>
            </a:r>
            <a:endParaRPr kumimoji="0" lang="en-IN" altLang="en-GB" sz="18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 0"/>
          <p:cNvSpPr txBox="1"/>
          <p:nvPr/>
        </p:nvSpPr>
        <p:spPr>
          <a:xfrm>
            <a:off x="457199" y="1066658"/>
            <a:ext cx="11274554" cy="51844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3600" b="1" spc="20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t>IDEA / SOLUTION TITLE</a:t>
            </a:r>
          </a:p>
        </p:txBody>
      </p:sp>
      <p:sp>
        <p:nvSpPr>
          <p:cNvPr id="67" name="Team tag"/>
          <p:cNvSpPr txBox="1"/>
          <p:nvPr/>
        </p:nvSpPr>
        <p:spPr>
          <a:xfrm>
            <a:off x="8503919" y="1178867"/>
            <a:ext cx="3227833" cy="15686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r">
              <a:defRPr sz="1200">
                <a:solidFill>
                  <a:schemeClr val="accent4"/>
                </a:solidFill>
              </a:defRPr>
            </a:lvl1pPr>
          </a:lstStyle>
          <a:p>
            <a:r>
              <a:t>TRIKΛΛL  |  Team ID:</a:t>
            </a:r>
          </a:p>
        </p:txBody>
      </p:sp>
      <p:sp>
        <p:nvSpPr>
          <p:cNvPr id="68" name="Problem card"/>
          <p:cNvSpPr/>
          <p:nvPr/>
        </p:nvSpPr>
        <p:spPr>
          <a:xfrm>
            <a:off x="457200" y="1691639"/>
            <a:ext cx="5486400" cy="4434842"/>
          </a:xfrm>
          <a:prstGeom prst="roundRect">
            <a:avLst>
              <a:gd name="adj" fmla="val 2474"/>
            </a:avLst>
          </a:prstGeom>
          <a:solidFill>
            <a:srgbClr val="0B1A4A">
              <a:alpha val="75000"/>
            </a:srgbClr>
          </a:solidFill>
          <a:ln w="12700">
            <a:solidFill>
              <a:schemeClr val="accent1"/>
            </a:solidFill>
          </a:ln>
        </p:spPr>
        <p:txBody>
          <a:bodyPr lIns="45719" rIns="45719"/>
          <a:lstStyle/>
          <a:p/>
        </p:txBody>
      </p:sp>
      <p:sp>
        <p:nvSpPr>
          <p:cNvPr id="69" name="Problem head"/>
          <p:cNvSpPr txBox="1"/>
          <p:nvPr/>
        </p:nvSpPr>
        <p:spPr>
          <a:xfrm>
            <a:off x="731519" y="1929706"/>
            <a:ext cx="4937762" cy="20966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500" b="1" spc="200">
                <a:solidFill>
                  <a:schemeClr val="accen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t>PROBLEM STATEMENT</a:t>
            </a:r>
          </a:p>
        </p:txBody>
      </p:sp>
      <p:sp>
        <p:nvSpPr>
          <p:cNvPr id="70" name="Problem body"/>
          <p:cNvSpPr txBox="1"/>
          <p:nvPr/>
        </p:nvSpPr>
        <p:spPr>
          <a:xfrm>
            <a:off x="731519" y="2286000"/>
            <a:ext cx="4937762" cy="325005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228600" indent="-228600">
              <a:spcBef>
                <a:spcPts val="500"/>
              </a:spcBef>
              <a:buSzPct val="100000"/>
              <a:buChar char="•"/>
              <a:defRPr sz="1400" b="1">
                <a:solidFill>
                  <a:schemeClr val="accent4"/>
                </a:solidFill>
              </a:defRPr>
            </a:pPr>
            <a:r>
              <a:t>Hidden duplication: </a:t>
            </a:r>
            <a:r>
              <a:rPr b="0">
                <a:solidFill>
                  <a:srgbClr val="FFFFFF"/>
                </a:solidFill>
              </a:rPr>
              <a:t>different brand names can contain the same active ingredient.</a:t>
            </a:r>
            <a:endParaRPr b="0">
              <a:solidFill>
                <a:srgbClr val="FFFFFF"/>
              </a:solidFill>
            </a:endParaRPr>
          </a:p>
          <a:p>
            <a:pPr marL="228600" indent="-228600">
              <a:spcBef>
                <a:spcPts val="500"/>
              </a:spcBef>
              <a:buSzPct val="100000"/>
              <a:buChar char="•"/>
              <a:defRPr sz="1400" b="1">
                <a:solidFill>
                  <a:schemeClr val="accent4"/>
                </a:solidFill>
              </a:defRPr>
            </a:pPr>
            <a:r>
              <a:t>Combination medicines: </a:t>
            </a:r>
            <a:r>
              <a:rPr b="0">
                <a:solidFill>
                  <a:srgbClr val="FFFFFF"/>
                </a:solidFill>
              </a:rPr>
              <a:t>can conceal ingredient overlap and interaction risks.</a:t>
            </a:r>
            <a:endParaRPr b="0">
              <a:solidFill>
                <a:srgbClr val="FFFFFF"/>
              </a:solidFill>
            </a:endParaRPr>
          </a:p>
          <a:p>
            <a:pPr marL="228600" indent="-228600">
              <a:spcBef>
                <a:spcPts val="500"/>
              </a:spcBef>
              <a:buSzPct val="100000"/>
              <a:buChar char="•"/>
              <a:defRPr sz="1400" b="1">
                <a:solidFill>
                  <a:schemeClr val="accent4"/>
                </a:solidFill>
              </a:defRPr>
            </a:pPr>
            <a:r>
              <a:t>Unclear inputs: </a:t>
            </a:r>
            <a:r>
              <a:rPr b="0">
                <a:solidFill>
                  <a:srgbClr val="FFFFFF"/>
                </a:solidFill>
              </a:rPr>
              <a:t>abbreviations (OD, BD, TDS, SOS) and ambiguous strengths need context, not guesses.</a:t>
            </a:r>
            <a:endParaRPr b="0">
              <a:solidFill>
                <a:srgbClr val="FFFFFF"/>
              </a:solidFill>
            </a:endParaRPr>
          </a:p>
          <a:p>
            <a:pPr marL="228600" indent="-228600">
              <a:spcBef>
                <a:spcPts val="500"/>
              </a:spcBef>
              <a:buSzPct val="100000"/>
              <a:buChar char="•"/>
              <a:defRPr sz="1400" b="1">
                <a:solidFill>
                  <a:schemeClr val="accent4"/>
                </a:solidFill>
              </a:defRPr>
            </a:pPr>
            <a:r>
              <a:t>Alert fatigue: </a:t>
            </a:r>
            <a:r>
              <a:rPr b="0">
                <a:solidFill>
                  <a:srgbClr val="FFFFFF"/>
                </a:solidFill>
              </a:rPr>
              <a:t>too many minor alerts make important warnings easier to overlook.</a:t>
            </a:r>
            <a:endParaRPr b="0">
              <a:solidFill>
                <a:srgbClr val="FFFFFF"/>
              </a:solidFill>
            </a:endParaRPr>
          </a:p>
          <a:p>
            <a:pPr marL="228600" indent="-228600">
              <a:spcBef>
                <a:spcPts val="500"/>
              </a:spcBef>
              <a:buSzPct val="100000"/>
              <a:buChar char="•"/>
              <a:defRPr sz="1400" b="1">
                <a:solidFill>
                  <a:schemeClr val="accent4"/>
                </a:solidFill>
              </a:defRPr>
            </a:pPr>
            <a:r>
              <a:t>Who is affected: </a:t>
            </a:r>
            <a:r>
              <a:rPr b="0">
                <a:solidFill>
                  <a:srgbClr val="FFFFFF"/>
                </a:solidFill>
              </a:rPr>
              <a:t>pharmacists, prescribers, medication-review teams and healthcare institutions.</a:t>
            </a:r>
            <a:endParaRPr b="0">
              <a:solidFill>
                <a:srgbClr val="FFFFFF"/>
              </a:solidFill>
            </a:endParaRPr>
          </a:p>
          <a:p>
            <a:pPr marL="228600" indent="-228600">
              <a:spcBef>
                <a:spcPts val="500"/>
              </a:spcBef>
              <a:buSzPct val="100000"/>
              <a:buChar char="•"/>
              <a:defRPr sz="1400" b="1">
                <a:solidFill>
                  <a:schemeClr val="accent4"/>
                </a:solidFill>
              </a:defRPr>
            </a:pPr>
            <a:r>
              <a:t>The gap: </a:t>
            </a:r>
            <a:r>
              <a:rPr b="0">
                <a:solidFill>
                  <a:srgbClr val="FFFFFF"/>
                </a:solidFill>
              </a:rPr>
              <a:t>brand-based, abbreviation-heavy prescriptions are hard to check consistently by eye. An ingredient-level, explainable check can support professional review.</a:t>
            </a:r>
            <a:endParaRPr b="0">
              <a:solidFill>
                <a:srgbClr val="FFFFFF"/>
              </a:solidFill>
            </a:endParaRPr>
          </a:p>
        </p:txBody>
      </p:sp>
      <p:sp>
        <p:nvSpPr>
          <p:cNvPr id="71" name="Solution card"/>
          <p:cNvSpPr/>
          <p:nvPr/>
        </p:nvSpPr>
        <p:spPr>
          <a:xfrm>
            <a:off x="6245352" y="1691639"/>
            <a:ext cx="5486401" cy="2743201"/>
          </a:xfrm>
          <a:prstGeom prst="roundRect">
            <a:avLst>
              <a:gd name="adj" fmla="val 4000"/>
            </a:avLst>
          </a:prstGeom>
          <a:solidFill>
            <a:srgbClr val="0B1A4A">
              <a:alpha val="75000"/>
            </a:srgbClr>
          </a:solidFill>
          <a:ln w="12700">
            <a:solidFill>
              <a:schemeClr val="accent1"/>
            </a:solidFill>
          </a:ln>
        </p:spPr>
        <p:txBody>
          <a:bodyPr lIns="45719" rIns="45719"/>
          <a:lstStyle/>
          <a:p/>
        </p:txBody>
      </p:sp>
      <p:sp>
        <p:nvSpPr>
          <p:cNvPr id="72" name="Solution head"/>
          <p:cNvSpPr txBox="1"/>
          <p:nvPr/>
        </p:nvSpPr>
        <p:spPr>
          <a:xfrm>
            <a:off x="6519671" y="1929706"/>
            <a:ext cx="4937762" cy="20966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500" b="1" spc="200">
                <a:solidFill>
                  <a:schemeClr val="accen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t>OUR SOLUTION</a:t>
            </a:r>
          </a:p>
        </p:txBody>
      </p:sp>
      <p:sp>
        <p:nvSpPr>
          <p:cNvPr id="73" name="Solution body"/>
          <p:cNvSpPr txBox="1"/>
          <p:nvPr/>
        </p:nvSpPr>
        <p:spPr>
          <a:xfrm>
            <a:off x="6519671" y="2286000"/>
            <a:ext cx="4937762" cy="189994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AushNexa</a:t>
            </a:r>
            <a:r>
              <a:rPr sz="1400" b="0"/>
              <a:t> – explainable prescription-safety assistant</a:t>
            </a:r>
            <a:endParaRPr sz="1300"/>
          </a:p>
          <a:p>
            <a:pPr marL="228600" indent="-228600">
              <a:spcBef>
                <a:spcPts val="4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Maps recognized brands to verified ingredients, strengths and forms</a:t>
            </a:r>
          </a:p>
          <a:p>
            <a:pPr marL="228600" indent="-228600">
              <a:spcBef>
                <a:spcPts val="4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Flags potential duplicate ingredients, even inside combination products</a:t>
            </a:r>
          </a:p>
          <a:p>
            <a:pPr marL="228600" indent="-228600">
              <a:spcBef>
                <a:spcPts val="4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Checks selected reviewed rules; flags unknowns instead of guessing</a:t>
            </a:r>
          </a:p>
          <a:p>
            <a:pPr marL="228600" indent="-228600">
              <a:spcBef>
                <a:spcPts val="4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Prioritized, explainable alerts support pharmacist / clinician review</a:t>
            </a:r>
          </a:p>
          <a:p>
            <a:pPr marL="228600" indent="-228600">
              <a:spcBef>
                <a:spcPts val="400"/>
              </a:spcBef>
              <a:buSzPct val="100000"/>
              <a:buChar char="•"/>
              <a:defRPr sz="1300" b="1">
                <a:solidFill>
                  <a:schemeClr val="accent4"/>
                </a:solidFill>
              </a:defRPr>
            </a:pPr>
            <a:r>
              <a:t>Innovation: </a:t>
            </a:r>
            <a:r>
              <a:rPr b="0">
                <a:solidFill>
                  <a:srgbClr val="FFFFFF"/>
                </a:solidFill>
              </a:rPr>
              <a:t>ingredient-level comparison, combination awareness, uncertainty handling, safety test laboratory</a:t>
            </a:r>
            <a:endParaRPr b="0">
              <a:solidFill>
                <a:srgbClr val="FFFFFF"/>
              </a:solidFill>
            </a:endParaRPr>
          </a:p>
        </p:txBody>
      </p:sp>
      <p:sp>
        <p:nvSpPr>
          <p:cNvPr id="74" name="Visual card"/>
          <p:cNvSpPr/>
          <p:nvPr/>
        </p:nvSpPr>
        <p:spPr>
          <a:xfrm>
            <a:off x="6245352" y="4617720"/>
            <a:ext cx="5486401" cy="1508761"/>
          </a:xfrm>
          <a:prstGeom prst="roundRect">
            <a:avLst>
              <a:gd name="adj" fmla="val 7273"/>
            </a:avLst>
          </a:prstGeom>
          <a:solidFill>
            <a:srgbClr val="0B1A4A">
              <a:alpha val="75000"/>
            </a:srgbClr>
          </a:solidFill>
          <a:ln w="12700">
            <a:solidFill>
              <a:schemeClr val="accent1"/>
            </a:solidFill>
          </a:ln>
        </p:spPr>
        <p:txBody>
          <a:bodyPr lIns="45719" rIns="45719"/>
          <a:lstStyle/>
          <a:p/>
        </p:txBody>
      </p:sp>
      <p:sp>
        <p:nvSpPr>
          <p:cNvPr id="75" name="Image placeholder text"/>
          <p:cNvSpPr txBox="1"/>
          <p:nvPr/>
        </p:nvSpPr>
        <p:spPr>
          <a:xfrm>
            <a:off x="6291072" y="4710606"/>
            <a:ext cx="5394961" cy="225709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spAutoFit/>
          </a:bodyPr>
          <a:lstStyle>
            <a:lvl1pPr algn="ctr">
              <a:defRPr sz="1100" i="1">
                <a:solidFill>
                  <a:schemeClr val="accent4"/>
                </a:solidFill>
              </a:defRPr>
            </a:lvl1pPr>
          </a:lstStyle>
          <a:p>
            <a:r>
              <a:t>Proposed workflow – prototype in development</a:t>
            </a:r>
          </a:p>
        </p:txBody>
      </p:sp>
      <p:sp>
        <p:nvSpPr>
          <p:cNvPr id="76" name="Slide Number Placeholder 0"/>
          <p:cNvSpPr txBox="1"/>
          <p:nvPr>
            <p:ph type="sldNum" sz="quarter" idx="4294967295"/>
          </p:nvPr>
        </p:nvSpPr>
        <p:spPr>
          <a:xfrm>
            <a:off x="11556980" y="6428232"/>
            <a:ext cx="174773" cy="226986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grpSp>
        <p:nvGrpSpPr>
          <p:cNvPr id="79" name="Workflow step 1"/>
          <p:cNvGrpSpPr/>
          <p:nvPr/>
        </p:nvGrpSpPr>
        <p:grpSpPr>
          <a:xfrm>
            <a:off x="6355079" y="5029200"/>
            <a:ext cx="936347" cy="896112"/>
            <a:chOff x="0" y="0"/>
            <a:chExt cx="936346" cy="896111"/>
          </a:xfrm>
        </p:grpSpPr>
        <p:sp>
          <p:nvSpPr>
            <p:cNvPr id="77" name="Rounded Rectangle"/>
            <p:cNvSpPr/>
            <p:nvPr/>
          </p:nvSpPr>
          <p:spPr>
            <a:xfrm>
              <a:off x="0" y="0"/>
              <a:ext cx="936347" cy="896112"/>
            </a:xfrm>
            <a:prstGeom prst="roundRect">
              <a:avLst>
                <a:gd name="adj" fmla="val 12000"/>
              </a:avLst>
            </a:prstGeom>
            <a:solidFill>
              <a:srgbClr val="12306F"/>
            </a:solidFill>
            <a:ln w="12700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000"/>
              </a:pPr>
            </a:p>
          </p:txBody>
        </p:sp>
        <p:sp>
          <p:nvSpPr>
            <p:cNvPr id="78" name="Typed prescription"/>
            <p:cNvSpPr txBox="1"/>
            <p:nvPr/>
          </p:nvSpPr>
          <p:spPr>
            <a:xfrm>
              <a:off x="46989" y="278682"/>
              <a:ext cx="842368" cy="3387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18288" tIns="18288" rIns="18288" bIns="18288" numCol="1" anchor="ctr">
              <a:spAutoFit/>
            </a:bodyPr>
            <a:lstStyle>
              <a:lvl1pPr algn="ctr">
                <a:defRPr sz="1000" b="1">
                  <a:solidFill>
                    <a:srgbClr val="FFFFFF"/>
                  </a:solidFill>
                </a:defRPr>
              </a:lvl1pPr>
            </a:lstStyle>
            <a:p>
              <a:r>
                <a:t>Typed prescription</a:t>
              </a:r>
            </a:p>
          </p:txBody>
        </p:sp>
      </p:grpSp>
      <p:grpSp>
        <p:nvGrpSpPr>
          <p:cNvPr id="82" name="Workflow step 2"/>
          <p:cNvGrpSpPr/>
          <p:nvPr/>
        </p:nvGrpSpPr>
        <p:grpSpPr>
          <a:xfrm>
            <a:off x="7437729" y="5029200"/>
            <a:ext cx="936347" cy="896112"/>
            <a:chOff x="0" y="0"/>
            <a:chExt cx="936346" cy="896111"/>
          </a:xfrm>
        </p:grpSpPr>
        <p:sp>
          <p:nvSpPr>
            <p:cNvPr id="80" name="Rounded Rectangle"/>
            <p:cNvSpPr/>
            <p:nvPr/>
          </p:nvSpPr>
          <p:spPr>
            <a:xfrm>
              <a:off x="0" y="0"/>
              <a:ext cx="936347" cy="896112"/>
            </a:xfrm>
            <a:prstGeom prst="roundRect">
              <a:avLst>
                <a:gd name="adj" fmla="val 12000"/>
              </a:avLst>
            </a:prstGeom>
            <a:solidFill>
              <a:srgbClr val="12306F"/>
            </a:solidFill>
            <a:ln w="12700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000"/>
              </a:pPr>
            </a:p>
          </p:txBody>
        </p:sp>
        <p:sp>
          <p:nvSpPr>
            <p:cNvPr id="81" name="Brand resolution"/>
            <p:cNvSpPr txBox="1"/>
            <p:nvPr/>
          </p:nvSpPr>
          <p:spPr>
            <a:xfrm>
              <a:off x="46989" y="278682"/>
              <a:ext cx="842368" cy="3387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18288" tIns="18288" rIns="18288" bIns="18288" numCol="1" anchor="ctr">
              <a:spAutoFit/>
            </a:bodyPr>
            <a:lstStyle>
              <a:lvl1pPr algn="ctr">
                <a:defRPr sz="1000" b="1">
                  <a:solidFill>
                    <a:srgbClr val="FFFFFF"/>
                  </a:solidFill>
                </a:defRPr>
              </a:lvl1pPr>
            </a:lstStyle>
            <a:p>
              <a:r>
                <a:t>Brand resolution</a:t>
              </a:r>
            </a:p>
          </p:txBody>
        </p:sp>
      </p:grpSp>
      <p:grpSp>
        <p:nvGrpSpPr>
          <p:cNvPr id="85" name="Workflow step 3"/>
          <p:cNvGrpSpPr/>
          <p:nvPr/>
        </p:nvGrpSpPr>
        <p:grpSpPr>
          <a:xfrm>
            <a:off x="8520379" y="5029200"/>
            <a:ext cx="936347" cy="896112"/>
            <a:chOff x="0" y="0"/>
            <a:chExt cx="936346" cy="896111"/>
          </a:xfrm>
        </p:grpSpPr>
        <p:sp>
          <p:nvSpPr>
            <p:cNvPr id="83" name="Rounded Rectangle"/>
            <p:cNvSpPr/>
            <p:nvPr/>
          </p:nvSpPr>
          <p:spPr>
            <a:xfrm>
              <a:off x="0" y="0"/>
              <a:ext cx="936347" cy="896112"/>
            </a:xfrm>
            <a:prstGeom prst="roundRect">
              <a:avLst>
                <a:gd name="adj" fmla="val 12000"/>
              </a:avLst>
            </a:prstGeom>
            <a:solidFill>
              <a:srgbClr val="12306F"/>
            </a:solidFill>
            <a:ln w="12700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000"/>
              </a:pPr>
            </a:p>
          </p:txBody>
        </p:sp>
        <p:sp>
          <p:nvSpPr>
            <p:cNvPr id="84" name="Ingredient normalization"/>
            <p:cNvSpPr txBox="1"/>
            <p:nvPr/>
          </p:nvSpPr>
          <p:spPr>
            <a:xfrm>
              <a:off x="46989" y="278682"/>
              <a:ext cx="842368" cy="3387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18288" tIns="18288" rIns="18288" bIns="18288" numCol="1" anchor="ctr">
              <a:spAutoFit/>
            </a:bodyPr>
            <a:lstStyle>
              <a:lvl1pPr algn="ctr">
                <a:defRPr sz="1000" b="1">
                  <a:solidFill>
                    <a:srgbClr val="FFFFFF"/>
                  </a:solidFill>
                </a:defRPr>
              </a:lvl1pPr>
            </a:lstStyle>
            <a:p>
              <a:r>
                <a:t>Ingredient normalization</a:t>
              </a:r>
            </a:p>
          </p:txBody>
        </p:sp>
      </p:grpSp>
      <p:grpSp>
        <p:nvGrpSpPr>
          <p:cNvPr id="88" name="Workflow step 4"/>
          <p:cNvGrpSpPr/>
          <p:nvPr/>
        </p:nvGrpSpPr>
        <p:grpSpPr>
          <a:xfrm>
            <a:off x="9603029" y="5029200"/>
            <a:ext cx="936347" cy="896112"/>
            <a:chOff x="0" y="0"/>
            <a:chExt cx="936346" cy="896111"/>
          </a:xfrm>
        </p:grpSpPr>
        <p:sp>
          <p:nvSpPr>
            <p:cNvPr id="86" name="Rounded Rectangle"/>
            <p:cNvSpPr/>
            <p:nvPr/>
          </p:nvSpPr>
          <p:spPr>
            <a:xfrm>
              <a:off x="0" y="0"/>
              <a:ext cx="936347" cy="896112"/>
            </a:xfrm>
            <a:prstGeom prst="roundRect">
              <a:avLst>
                <a:gd name="adj" fmla="val 12000"/>
              </a:avLst>
            </a:prstGeom>
            <a:solidFill>
              <a:srgbClr val="12306F"/>
            </a:solidFill>
            <a:ln w="12700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000"/>
              </a:pPr>
            </a:p>
          </p:txBody>
        </p:sp>
        <p:sp>
          <p:nvSpPr>
            <p:cNvPr id="87" name="Safety rules"/>
            <p:cNvSpPr txBox="1"/>
            <p:nvPr/>
          </p:nvSpPr>
          <p:spPr>
            <a:xfrm>
              <a:off x="46989" y="361232"/>
              <a:ext cx="842368" cy="1736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18288" tIns="18288" rIns="18288" bIns="18288" numCol="1" anchor="ctr">
              <a:spAutoFit/>
            </a:bodyPr>
            <a:lstStyle>
              <a:lvl1pPr algn="ctr">
                <a:defRPr sz="1000" b="1">
                  <a:solidFill>
                    <a:srgbClr val="FFFFFF"/>
                  </a:solidFill>
                </a:defRPr>
              </a:lvl1pPr>
            </a:lstStyle>
            <a:p>
              <a:r>
                <a:t>Safety rules</a:t>
              </a:r>
            </a:p>
          </p:txBody>
        </p:sp>
      </p:grpSp>
      <p:grpSp>
        <p:nvGrpSpPr>
          <p:cNvPr id="91" name="Workflow step 5"/>
          <p:cNvGrpSpPr/>
          <p:nvPr/>
        </p:nvGrpSpPr>
        <p:grpSpPr>
          <a:xfrm>
            <a:off x="10685677" y="5029200"/>
            <a:ext cx="936348" cy="896112"/>
            <a:chOff x="0" y="0"/>
            <a:chExt cx="936346" cy="896111"/>
          </a:xfrm>
        </p:grpSpPr>
        <p:sp>
          <p:nvSpPr>
            <p:cNvPr id="89" name="Rounded Rectangle"/>
            <p:cNvSpPr/>
            <p:nvPr/>
          </p:nvSpPr>
          <p:spPr>
            <a:xfrm>
              <a:off x="0" y="0"/>
              <a:ext cx="936347" cy="896112"/>
            </a:xfrm>
            <a:prstGeom prst="roundRect">
              <a:avLst>
                <a:gd name="adj" fmla="val 12000"/>
              </a:avLst>
            </a:prstGeom>
            <a:solidFill>
              <a:schemeClr val="accent1"/>
            </a:solidFill>
            <a:ln w="12700" cap="flat">
              <a:solidFill>
                <a:schemeClr val="accent4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000"/>
              </a:pPr>
            </a:p>
          </p:txBody>
        </p:sp>
        <p:sp>
          <p:nvSpPr>
            <p:cNvPr id="90" name="Prioritized explainable report"/>
            <p:cNvSpPr txBox="1"/>
            <p:nvPr/>
          </p:nvSpPr>
          <p:spPr>
            <a:xfrm>
              <a:off x="46989" y="196132"/>
              <a:ext cx="842368" cy="5038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18288" tIns="18288" rIns="18288" bIns="18288" numCol="1" anchor="ctr">
              <a:spAutoFit/>
            </a:bodyPr>
            <a:lstStyle>
              <a:lvl1pPr algn="ctr">
                <a:defRPr sz="1000" b="1">
                  <a:solidFill>
                    <a:srgbClr val="FFFFFF"/>
                  </a:solidFill>
                </a:defRPr>
              </a:lvl1pPr>
            </a:lstStyle>
            <a:p>
              <a:r>
                <a:t>Prioritized explainable report</a:t>
              </a:r>
            </a:p>
          </p:txBody>
        </p:sp>
      </p:grpSp>
      <p:sp>
        <p:nvSpPr>
          <p:cNvPr id="96" name="Workflow arrow 1"/>
          <p:cNvSpPr/>
          <p:nvPr/>
        </p:nvSpPr>
        <p:spPr>
          <a:xfrm>
            <a:off x="7297658" y="5477255"/>
            <a:ext cx="133722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7200" y="0"/>
                  <a:pt x="14400" y="21600"/>
                  <a:pt x="21600" y="21600"/>
                </a:cubicBezTo>
              </a:path>
            </a:pathLst>
          </a:custGeom>
          <a:ln w="15875">
            <a:solidFill>
              <a:schemeClr val="accent4"/>
            </a:solidFill>
            <a:tailEnd type="triangle"/>
          </a:ln>
        </p:spPr>
        <p:txBody>
          <a:bodyPr/>
          <a:lstStyle/>
          <a:p/>
        </p:txBody>
      </p:sp>
      <p:sp>
        <p:nvSpPr>
          <p:cNvPr id="97" name="Workflow arrow 2"/>
          <p:cNvSpPr/>
          <p:nvPr/>
        </p:nvSpPr>
        <p:spPr>
          <a:xfrm>
            <a:off x="8380307" y="5477255"/>
            <a:ext cx="133723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cubicBezTo>
                  <a:pt x="7200" y="0"/>
                  <a:pt x="14400" y="0"/>
                  <a:pt x="21600" y="0"/>
                </a:cubicBezTo>
              </a:path>
            </a:pathLst>
          </a:custGeom>
          <a:ln w="15875">
            <a:solidFill>
              <a:schemeClr val="accent4"/>
            </a:solidFill>
            <a:tailEnd type="triangle"/>
          </a:ln>
        </p:spPr>
        <p:txBody>
          <a:bodyPr/>
          <a:lstStyle/>
          <a:p/>
        </p:txBody>
      </p:sp>
      <p:sp>
        <p:nvSpPr>
          <p:cNvPr id="98" name="Workflow arrow 3"/>
          <p:cNvSpPr/>
          <p:nvPr/>
        </p:nvSpPr>
        <p:spPr>
          <a:xfrm>
            <a:off x="9462957" y="5477255"/>
            <a:ext cx="133723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cubicBezTo>
                  <a:pt x="7200" y="0"/>
                  <a:pt x="14400" y="0"/>
                  <a:pt x="21600" y="0"/>
                </a:cubicBezTo>
              </a:path>
            </a:pathLst>
          </a:custGeom>
          <a:ln w="15875">
            <a:solidFill>
              <a:schemeClr val="accent4"/>
            </a:solidFill>
            <a:tailEnd type="triangle"/>
          </a:ln>
        </p:spPr>
        <p:txBody>
          <a:bodyPr/>
          <a:lstStyle/>
          <a:p/>
        </p:txBody>
      </p:sp>
      <p:sp>
        <p:nvSpPr>
          <p:cNvPr id="99" name="Workflow arrow 4"/>
          <p:cNvSpPr/>
          <p:nvPr/>
        </p:nvSpPr>
        <p:spPr>
          <a:xfrm>
            <a:off x="10545607" y="5477255"/>
            <a:ext cx="133721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7200" y="0"/>
                  <a:pt x="14400" y="21600"/>
                  <a:pt x="21600" y="21600"/>
                </a:cubicBezTo>
              </a:path>
            </a:pathLst>
          </a:custGeom>
          <a:ln w="15875">
            <a:solidFill>
              <a:schemeClr val="accent4"/>
            </a:solidFill>
            <a:tailEnd type="triangle"/>
          </a:ln>
        </p:spPr>
        <p:txBody>
          <a:bodyPr/>
          <a:lstStyle/>
          <a:p/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0"/>
          <p:cNvSpPr txBox="1"/>
          <p:nvPr/>
        </p:nvSpPr>
        <p:spPr>
          <a:xfrm>
            <a:off x="457199" y="1066658"/>
            <a:ext cx="11274554" cy="51844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3600" b="1" spc="20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t>TECHNICAL APPROACH</a:t>
            </a:r>
          </a:p>
        </p:txBody>
      </p:sp>
      <p:sp>
        <p:nvSpPr>
          <p:cNvPr id="102" name="Team tag"/>
          <p:cNvSpPr txBox="1"/>
          <p:nvPr/>
        </p:nvSpPr>
        <p:spPr>
          <a:xfrm>
            <a:off x="8503919" y="1178867"/>
            <a:ext cx="3227833" cy="15686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r">
              <a:defRPr sz="1200">
                <a:solidFill>
                  <a:schemeClr val="accent4"/>
                </a:solidFill>
              </a:defRPr>
            </a:lvl1pPr>
          </a:lstStyle>
          <a:p>
            <a:r>
              <a:t>TRIKΛΛL  |  Team ID:</a:t>
            </a:r>
          </a:p>
        </p:txBody>
      </p:sp>
      <p:sp>
        <p:nvSpPr>
          <p:cNvPr id="103" name="Architecture card"/>
          <p:cNvSpPr/>
          <p:nvPr/>
        </p:nvSpPr>
        <p:spPr>
          <a:xfrm>
            <a:off x="457200" y="1691639"/>
            <a:ext cx="5486400" cy="4434842"/>
          </a:xfrm>
          <a:prstGeom prst="roundRect">
            <a:avLst>
              <a:gd name="adj" fmla="val 2474"/>
            </a:avLst>
          </a:prstGeom>
          <a:solidFill>
            <a:srgbClr val="0B1A4A">
              <a:alpha val="75000"/>
            </a:srgbClr>
          </a:solidFill>
          <a:ln w="12700">
            <a:solidFill>
              <a:schemeClr val="accent1"/>
            </a:solidFill>
          </a:ln>
        </p:spPr>
        <p:txBody>
          <a:bodyPr lIns="45719" rIns="45719"/>
          <a:lstStyle/>
          <a:p/>
        </p:txBody>
      </p:sp>
      <p:sp>
        <p:nvSpPr>
          <p:cNvPr id="104" name="Arch head"/>
          <p:cNvSpPr txBox="1"/>
          <p:nvPr/>
        </p:nvSpPr>
        <p:spPr>
          <a:xfrm>
            <a:off x="731519" y="1929706"/>
            <a:ext cx="4937762" cy="20966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500" b="1" spc="200">
                <a:solidFill>
                  <a:schemeClr val="accen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t>SYSTEM ARCHITECTURE</a:t>
            </a:r>
          </a:p>
        </p:txBody>
      </p:sp>
      <p:sp>
        <p:nvSpPr>
          <p:cNvPr id="105" name="Arch body"/>
          <p:cNvSpPr txBox="1"/>
          <p:nvPr/>
        </p:nvSpPr>
        <p:spPr>
          <a:xfrm>
            <a:off x="731519" y="5852159"/>
            <a:ext cx="4937762" cy="13707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1000" i="1">
                <a:solidFill>
                  <a:schemeClr val="accent4"/>
                </a:solidFill>
              </a:defRPr>
            </a:lvl1pPr>
          </a:lstStyle>
          <a:p>
            <a:r>
              <a:t>Proposed architecture – prototype in development</a:t>
            </a:r>
          </a:p>
        </p:txBody>
      </p:sp>
      <p:sp>
        <p:nvSpPr>
          <p:cNvPr id="106" name="Tech card"/>
          <p:cNvSpPr/>
          <p:nvPr/>
        </p:nvSpPr>
        <p:spPr>
          <a:xfrm>
            <a:off x="6245352" y="1691639"/>
            <a:ext cx="5486401" cy="2148841"/>
          </a:xfrm>
          <a:prstGeom prst="roundRect">
            <a:avLst>
              <a:gd name="adj" fmla="val 5106"/>
            </a:avLst>
          </a:prstGeom>
          <a:solidFill>
            <a:srgbClr val="0B1A4A">
              <a:alpha val="75000"/>
            </a:srgbClr>
          </a:solidFill>
          <a:ln w="12700">
            <a:solidFill>
              <a:schemeClr val="accent1"/>
            </a:solidFill>
          </a:ln>
        </p:spPr>
        <p:txBody>
          <a:bodyPr lIns="45719" rIns="45719"/>
          <a:lstStyle/>
          <a:p/>
        </p:txBody>
      </p:sp>
      <p:sp>
        <p:nvSpPr>
          <p:cNvPr id="107" name="Tech head"/>
          <p:cNvSpPr txBox="1"/>
          <p:nvPr/>
        </p:nvSpPr>
        <p:spPr>
          <a:xfrm>
            <a:off x="6519671" y="1929706"/>
            <a:ext cx="4937762" cy="20966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500" b="1" spc="200">
                <a:solidFill>
                  <a:schemeClr val="accen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t>CORE TECHNOLOGIES</a:t>
            </a:r>
          </a:p>
        </p:txBody>
      </p:sp>
      <p:sp>
        <p:nvSpPr>
          <p:cNvPr id="108" name="Tech body"/>
          <p:cNvSpPr txBox="1"/>
          <p:nvPr/>
        </p:nvSpPr>
        <p:spPr>
          <a:xfrm>
            <a:off x="6519671" y="2286000"/>
            <a:ext cx="4937762" cy="108116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228600" indent="-228600">
              <a:spcBef>
                <a:spcPts val="400"/>
              </a:spcBef>
              <a:buSzPct val="100000"/>
              <a:buChar char="•"/>
              <a:defRPr sz="1300" b="1">
                <a:solidFill>
                  <a:schemeClr val="accent4"/>
                </a:solidFill>
              </a:defRPr>
            </a:pPr>
            <a:r>
              <a:t>Languages / frameworks: </a:t>
            </a:r>
            <a:r>
              <a:rPr b="0">
                <a:solidFill>
                  <a:srgbClr val="FFFFFF"/>
                </a:solidFill>
              </a:rPr>
              <a:t>Python, React, Tailwind CSS</a:t>
            </a:r>
            <a:endParaRPr b="0">
              <a:solidFill>
                <a:srgbClr val="FFFFFF"/>
              </a:solidFill>
            </a:endParaRPr>
          </a:p>
          <a:p>
            <a:pPr marL="228600" indent="-228600">
              <a:spcBef>
                <a:spcPts val="400"/>
              </a:spcBef>
              <a:buSzPct val="100000"/>
              <a:buChar char="•"/>
              <a:defRPr sz="1300" b="1">
                <a:solidFill>
                  <a:schemeClr val="accent4"/>
                </a:solidFill>
              </a:defRPr>
            </a:pPr>
            <a:r>
              <a:t>Hardware / platforms: </a:t>
            </a:r>
            <a:r>
              <a:rPr b="0">
                <a:solidFill>
                  <a:srgbClr val="FFFFFF"/>
                </a:solidFill>
              </a:rPr>
              <a:t>standard web browser; no special hardware</a:t>
            </a:r>
            <a:endParaRPr b="0">
              <a:solidFill>
                <a:srgbClr val="FFFFFF"/>
              </a:solidFill>
            </a:endParaRPr>
          </a:p>
          <a:p>
            <a:pPr marL="228600" indent="-228600">
              <a:spcBef>
                <a:spcPts val="400"/>
              </a:spcBef>
              <a:buSzPct val="100000"/>
              <a:buChar char="•"/>
              <a:defRPr sz="1300" b="1">
                <a:solidFill>
                  <a:schemeClr val="accent4"/>
                </a:solidFill>
              </a:defRPr>
            </a:pPr>
            <a:r>
              <a:t>APIs and tools: </a:t>
            </a:r>
            <a:r>
              <a:rPr b="0">
                <a:solidFill>
                  <a:srgbClr val="FFFFFF"/>
                </a:solidFill>
              </a:rPr>
              <a:t>Python REST API; JSON / SQLite for curated medicine data and versioned rules; optional language-model text assistance (never the safety authority)</a:t>
            </a:r>
            <a:endParaRPr b="0">
              <a:solidFill>
                <a:srgbClr val="FFFFFF"/>
              </a:solidFill>
            </a:endParaRPr>
          </a:p>
        </p:txBody>
      </p:sp>
      <p:sp>
        <p:nvSpPr>
          <p:cNvPr id="109" name="Unique card"/>
          <p:cNvSpPr/>
          <p:nvPr/>
        </p:nvSpPr>
        <p:spPr>
          <a:xfrm>
            <a:off x="6245352" y="4023359"/>
            <a:ext cx="5486401" cy="2103121"/>
          </a:xfrm>
          <a:prstGeom prst="roundRect">
            <a:avLst>
              <a:gd name="adj" fmla="val 5217"/>
            </a:avLst>
          </a:prstGeom>
          <a:solidFill>
            <a:srgbClr val="0B1A4A">
              <a:alpha val="75000"/>
            </a:srgbClr>
          </a:solidFill>
          <a:ln w="12700">
            <a:solidFill>
              <a:schemeClr val="accent1"/>
            </a:solidFill>
          </a:ln>
        </p:spPr>
        <p:txBody>
          <a:bodyPr lIns="45719" rIns="45719"/>
          <a:lstStyle/>
          <a:p/>
        </p:txBody>
      </p:sp>
      <p:sp>
        <p:nvSpPr>
          <p:cNvPr id="110" name="Unique head"/>
          <p:cNvSpPr txBox="1"/>
          <p:nvPr/>
        </p:nvSpPr>
        <p:spPr>
          <a:xfrm>
            <a:off x="6519671" y="4261426"/>
            <a:ext cx="4937762" cy="20966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500" b="1" spc="200">
                <a:solidFill>
                  <a:schemeClr val="accen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t>UNIQUE POINTS</a:t>
            </a:r>
          </a:p>
        </p:txBody>
      </p:sp>
      <p:sp>
        <p:nvSpPr>
          <p:cNvPr id="111" name="Unique body"/>
          <p:cNvSpPr txBox="1"/>
          <p:nvPr/>
        </p:nvSpPr>
        <p:spPr>
          <a:xfrm>
            <a:off x="6519671" y="4617720"/>
            <a:ext cx="4937762" cy="113196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228600" indent="-228600">
              <a:spcBef>
                <a:spcPts val="4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Ingredient-level checks across brands and combination products</a:t>
            </a:r>
          </a:p>
          <a:p>
            <a:pPr marL="228600" indent="-228600">
              <a:spcBef>
                <a:spcPts val="4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Explainable alerts with uncertainty-aware brand resolution</a:t>
            </a:r>
          </a:p>
          <a:p>
            <a:pPr marL="228600" indent="-228600">
              <a:spcBef>
                <a:spcPts val="4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Alert-fatigue-aware prioritization; testable, versioned rules</a:t>
            </a:r>
          </a:p>
          <a:p>
            <a:pPr marL="228600" indent="-228600">
              <a:spcBef>
                <a:spcPts val="400"/>
              </a:spcBef>
              <a:buSzPct val="100000"/>
              <a:buChar char="•"/>
              <a:defRPr sz="1300" b="1">
                <a:solidFill>
                  <a:schemeClr val="accent4"/>
                </a:solidFill>
              </a:defRPr>
            </a:pPr>
            <a:r>
              <a:t>Security: </a:t>
            </a:r>
            <a:r>
              <a:rPr b="0">
                <a:solidFill>
                  <a:srgbClr val="FFFFFF"/>
                </a:solidFill>
              </a:rPr>
              <a:t>data minimization, input validation, no unneeded patient identifiers</a:t>
            </a:r>
            <a:endParaRPr b="0">
              <a:solidFill>
                <a:srgbClr val="FFFFFF"/>
              </a:solidFill>
            </a:endParaRPr>
          </a:p>
        </p:txBody>
      </p:sp>
      <p:sp>
        <p:nvSpPr>
          <p:cNvPr id="112" name="Slide Number Placeholder 0"/>
          <p:cNvSpPr txBox="1"/>
          <p:nvPr>
            <p:ph type="sldNum" sz="quarter" idx="4294967295"/>
          </p:nvPr>
        </p:nvSpPr>
        <p:spPr>
          <a:xfrm>
            <a:off x="11556980" y="6428232"/>
            <a:ext cx="174773" cy="226986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grpSp>
        <p:nvGrpSpPr>
          <p:cNvPr id="115" name="Arch UI"/>
          <p:cNvGrpSpPr/>
          <p:nvPr/>
        </p:nvGrpSpPr>
        <p:grpSpPr>
          <a:xfrm>
            <a:off x="731519" y="2286000"/>
            <a:ext cx="4937761" cy="502920"/>
            <a:chOff x="0" y="0"/>
            <a:chExt cx="4937759" cy="502919"/>
          </a:xfrm>
        </p:grpSpPr>
        <p:sp>
          <p:nvSpPr>
            <p:cNvPr id="113" name="Rounded Rectangle"/>
            <p:cNvSpPr/>
            <p:nvPr/>
          </p:nvSpPr>
          <p:spPr>
            <a:xfrm>
              <a:off x="0" y="0"/>
              <a:ext cx="4937760" cy="502920"/>
            </a:xfrm>
            <a:prstGeom prst="roundRect">
              <a:avLst>
                <a:gd name="adj" fmla="val 12000"/>
              </a:avLst>
            </a:prstGeom>
            <a:solidFill>
              <a:srgbClr val="1B3F9E"/>
            </a:solidFill>
            <a:ln w="12700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/>
              </a:pPr>
            </a:p>
          </p:txBody>
        </p:sp>
        <p:sp>
          <p:nvSpPr>
            <p:cNvPr id="114" name="React + Tailwind CSS interface…"/>
            <p:cNvSpPr txBox="1"/>
            <p:nvPr/>
          </p:nvSpPr>
          <p:spPr>
            <a:xfrm>
              <a:off x="42313" y="93384"/>
              <a:ext cx="4853134" cy="3161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18288" tIns="18288" rIns="18288" bIns="18288" numCol="1" anchor="ctr">
              <a:spAutoFit/>
            </a:bodyPr>
            <a:lstStyle/>
            <a:p>
              <a:pPr algn="ctr">
                <a:defRPr sz="1100" b="1">
                  <a:solidFill>
                    <a:srgbClr val="FFFFFF"/>
                  </a:solidFill>
                </a:defRPr>
              </a:pPr>
              <a:r>
                <a:t>React + Tailwind CSS interface</a:t>
              </a:r>
            </a:p>
            <a:p>
              <a:pPr algn="ctr">
                <a:defRPr sz="900">
                  <a:solidFill>
                    <a:schemeClr val="accent4"/>
                  </a:solidFill>
                </a:defRPr>
              </a:pPr>
              <a:r>
                <a:t>prescription text + patient context in; alerts + evidence out</a:t>
              </a:r>
            </a:p>
          </p:txBody>
        </p:sp>
      </p:grpSp>
      <p:grpSp>
        <p:nvGrpSpPr>
          <p:cNvPr id="118" name="Arch API"/>
          <p:cNvGrpSpPr/>
          <p:nvPr/>
        </p:nvGrpSpPr>
        <p:grpSpPr>
          <a:xfrm>
            <a:off x="731519" y="2990088"/>
            <a:ext cx="4937761" cy="457201"/>
            <a:chOff x="0" y="0"/>
            <a:chExt cx="4937759" cy="457200"/>
          </a:xfrm>
        </p:grpSpPr>
        <p:sp>
          <p:nvSpPr>
            <p:cNvPr id="116" name="Rounded Rectangle"/>
            <p:cNvSpPr/>
            <p:nvPr/>
          </p:nvSpPr>
          <p:spPr>
            <a:xfrm>
              <a:off x="0" y="0"/>
              <a:ext cx="4937760" cy="457200"/>
            </a:xfrm>
            <a:prstGeom prst="roundRect">
              <a:avLst>
                <a:gd name="adj" fmla="val 12000"/>
              </a:avLst>
            </a:prstGeom>
            <a:solidFill>
              <a:srgbClr val="1B3F9E"/>
            </a:solidFill>
            <a:ln w="12700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/>
              </a:pPr>
            </a:p>
          </p:txBody>
        </p:sp>
        <p:sp>
          <p:nvSpPr>
            <p:cNvPr id="117" name="Python REST API…"/>
            <p:cNvSpPr txBox="1"/>
            <p:nvPr/>
          </p:nvSpPr>
          <p:spPr>
            <a:xfrm>
              <a:off x="40707" y="70525"/>
              <a:ext cx="4856346" cy="3161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18288" tIns="18288" rIns="18288" bIns="18288" numCol="1" anchor="ctr">
              <a:spAutoFit/>
            </a:bodyPr>
            <a:lstStyle/>
            <a:p>
              <a:pPr algn="ctr">
                <a:defRPr sz="1100" b="1">
                  <a:solidFill>
                    <a:srgbClr val="FFFFFF"/>
                  </a:solidFill>
                </a:defRPr>
              </a:pPr>
              <a:r>
                <a:t>Python REST API</a:t>
              </a:r>
            </a:p>
            <a:p>
              <a:pPr algn="ctr">
                <a:defRPr sz="900">
                  <a:solidFill>
                    <a:schemeClr val="accent4"/>
                  </a:solidFill>
                </a:defRPr>
              </a:pPr>
              <a:r>
                <a:t>input validation · data minimization · JSON</a:t>
              </a:r>
            </a:p>
          </p:txBody>
        </p:sp>
      </p:grpSp>
      <p:grpSp>
        <p:nvGrpSpPr>
          <p:cNvPr id="121" name="Arch step 1"/>
          <p:cNvGrpSpPr/>
          <p:nvPr/>
        </p:nvGrpSpPr>
        <p:grpSpPr>
          <a:xfrm>
            <a:off x="731519" y="3648455"/>
            <a:ext cx="1524307" cy="566929"/>
            <a:chOff x="0" y="0"/>
            <a:chExt cx="1524305" cy="566927"/>
          </a:xfrm>
        </p:grpSpPr>
        <p:sp>
          <p:nvSpPr>
            <p:cNvPr id="119" name="Rounded Rectangle"/>
            <p:cNvSpPr/>
            <p:nvPr/>
          </p:nvSpPr>
          <p:spPr>
            <a:xfrm>
              <a:off x="0" y="0"/>
              <a:ext cx="1524306" cy="566928"/>
            </a:xfrm>
            <a:prstGeom prst="roundRect">
              <a:avLst>
                <a:gd name="adj" fmla="val 12000"/>
              </a:avLst>
            </a:prstGeom>
            <a:solidFill>
              <a:srgbClr val="12306F"/>
            </a:solidFill>
            <a:ln w="12700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/>
              </a:pPr>
            </a:p>
          </p:txBody>
        </p:sp>
        <p:sp>
          <p:nvSpPr>
            <p:cNvPr id="120" name="1  Parse &amp; normalize…"/>
            <p:cNvSpPr txBox="1"/>
            <p:nvPr/>
          </p:nvSpPr>
          <p:spPr>
            <a:xfrm>
              <a:off x="44564" y="125389"/>
              <a:ext cx="1435178" cy="3161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18288" tIns="18288" rIns="18288" bIns="18288" numCol="1" anchor="ctr">
              <a:spAutoFit/>
            </a:bodyPr>
            <a:lstStyle/>
            <a:p>
              <a:pPr algn="ctr">
                <a:defRPr sz="1000" b="1">
                  <a:solidFill>
                    <a:srgbClr val="FFFFFF"/>
                  </a:solidFill>
                </a:defRPr>
              </a:pPr>
              <a:r>
                <a:t>1  Parse &amp; normalize</a:t>
              </a:r>
            </a:p>
            <a:p>
              <a:pPr algn="ctr">
                <a:defRPr sz="900">
                  <a:solidFill>
                    <a:schemeClr val="accent4"/>
                  </a:solidFill>
                </a:defRPr>
              </a:pPr>
              <a:r>
                <a:t>ambiguity is flagged</a:t>
              </a:r>
            </a:p>
          </p:txBody>
        </p:sp>
      </p:grpSp>
      <p:grpSp>
        <p:nvGrpSpPr>
          <p:cNvPr id="124" name="Arch step 2"/>
          <p:cNvGrpSpPr/>
          <p:nvPr/>
        </p:nvGrpSpPr>
        <p:grpSpPr>
          <a:xfrm>
            <a:off x="2438705" y="3648455"/>
            <a:ext cx="1524306" cy="566929"/>
            <a:chOff x="0" y="0"/>
            <a:chExt cx="1524305" cy="566927"/>
          </a:xfrm>
        </p:grpSpPr>
        <p:sp>
          <p:nvSpPr>
            <p:cNvPr id="122" name="Rounded Rectangle"/>
            <p:cNvSpPr/>
            <p:nvPr/>
          </p:nvSpPr>
          <p:spPr>
            <a:xfrm>
              <a:off x="0" y="0"/>
              <a:ext cx="1524306" cy="566928"/>
            </a:xfrm>
            <a:prstGeom prst="roundRect">
              <a:avLst>
                <a:gd name="adj" fmla="val 12000"/>
              </a:avLst>
            </a:prstGeom>
            <a:solidFill>
              <a:srgbClr val="12306F"/>
            </a:solidFill>
            <a:ln w="12700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/>
              </a:pPr>
            </a:p>
          </p:txBody>
        </p:sp>
        <p:sp>
          <p:nvSpPr>
            <p:cNvPr id="123" name="2  Brand matching…"/>
            <p:cNvSpPr txBox="1"/>
            <p:nvPr/>
          </p:nvSpPr>
          <p:spPr>
            <a:xfrm>
              <a:off x="44564" y="125389"/>
              <a:ext cx="1435178" cy="3161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18288" tIns="18288" rIns="18288" bIns="18288" numCol="1" anchor="ctr">
              <a:spAutoFit/>
            </a:bodyPr>
            <a:lstStyle/>
            <a:p>
              <a:pPr algn="ctr">
                <a:defRPr sz="1000" b="1">
                  <a:solidFill>
                    <a:srgbClr val="FFFFFF"/>
                  </a:solidFill>
                </a:defRPr>
              </a:pPr>
              <a:r>
                <a:t>2  Brand matching</a:t>
              </a:r>
            </a:p>
            <a:p>
              <a:pPr algn="ctr">
                <a:defRPr sz="900">
                  <a:solidFill>
                    <a:schemeClr val="accent4"/>
                  </a:solidFill>
                </a:defRPr>
              </a:pPr>
              <a:r>
                <a:t>aliases + match confidence</a:t>
              </a:r>
            </a:p>
          </p:txBody>
        </p:sp>
      </p:grpSp>
      <p:grpSp>
        <p:nvGrpSpPr>
          <p:cNvPr id="127" name="Arch step 3"/>
          <p:cNvGrpSpPr/>
          <p:nvPr/>
        </p:nvGrpSpPr>
        <p:grpSpPr>
          <a:xfrm>
            <a:off x="4145889" y="3648455"/>
            <a:ext cx="1524306" cy="566929"/>
            <a:chOff x="0" y="0"/>
            <a:chExt cx="1524305" cy="566927"/>
          </a:xfrm>
        </p:grpSpPr>
        <p:sp>
          <p:nvSpPr>
            <p:cNvPr id="125" name="Rounded Rectangle"/>
            <p:cNvSpPr/>
            <p:nvPr/>
          </p:nvSpPr>
          <p:spPr>
            <a:xfrm>
              <a:off x="0" y="0"/>
              <a:ext cx="1524306" cy="566928"/>
            </a:xfrm>
            <a:prstGeom prst="roundRect">
              <a:avLst>
                <a:gd name="adj" fmla="val 12000"/>
              </a:avLst>
            </a:prstGeom>
            <a:solidFill>
              <a:srgbClr val="12306F"/>
            </a:solidFill>
            <a:ln w="12700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/>
              </a:pPr>
            </a:p>
          </p:txBody>
        </p:sp>
        <p:sp>
          <p:nvSpPr>
            <p:cNvPr id="126" name="3  Ingredient resolution…"/>
            <p:cNvSpPr txBox="1"/>
            <p:nvPr/>
          </p:nvSpPr>
          <p:spPr>
            <a:xfrm>
              <a:off x="44564" y="125389"/>
              <a:ext cx="1435178" cy="3161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18288" tIns="18288" rIns="18288" bIns="18288" numCol="1" anchor="ctr">
              <a:spAutoFit/>
            </a:bodyPr>
            <a:lstStyle/>
            <a:p>
              <a:pPr algn="ctr">
                <a:defRPr sz="1000" b="1">
                  <a:solidFill>
                    <a:srgbClr val="FFFFFF"/>
                  </a:solidFill>
                </a:defRPr>
              </a:pPr>
              <a:r>
                <a:t>3  Ingredient resolution</a:t>
              </a:r>
            </a:p>
            <a:p>
              <a:pPr algn="ctr">
                <a:defRPr sz="900">
                  <a:solidFill>
                    <a:schemeClr val="accent4"/>
                  </a:solidFill>
                </a:defRPr>
              </a:pPr>
              <a:r>
                <a:t>ingredients, strengths, forms</a:t>
              </a:r>
            </a:p>
          </p:txBody>
        </p:sp>
      </p:grpSp>
      <p:grpSp>
        <p:nvGrpSpPr>
          <p:cNvPr id="130" name="Arch step 4"/>
          <p:cNvGrpSpPr/>
          <p:nvPr/>
        </p:nvGrpSpPr>
        <p:grpSpPr>
          <a:xfrm>
            <a:off x="4145889" y="4443984"/>
            <a:ext cx="1524306" cy="566929"/>
            <a:chOff x="0" y="0"/>
            <a:chExt cx="1524305" cy="566927"/>
          </a:xfrm>
        </p:grpSpPr>
        <p:sp>
          <p:nvSpPr>
            <p:cNvPr id="128" name="Rounded Rectangle"/>
            <p:cNvSpPr/>
            <p:nvPr/>
          </p:nvSpPr>
          <p:spPr>
            <a:xfrm>
              <a:off x="0" y="0"/>
              <a:ext cx="1524306" cy="566928"/>
            </a:xfrm>
            <a:prstGeom prst="roundRect">
              <a:avLst>
                <a:gd name="adj" fmla="val 12000"/>
              </a:avLst>
            </a:prstGeom>
            <a:solidFill>
              <a:schemeClr val="accent1"/>
            </a:solidFill>
            <a:ln w="12700" cap="flat">
              <a:solidFill>
                <a:schemeClr val="accent4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/>
              </a:pPr>
            </a:p>
          </p:txBody>
        </p:sp>
        <p:sp>
          <p:nvSpPr>
            <p:cNvPr id="129" name="4  Safety engine…"/>
            <p:cNvSpPr txBox="1"/>
            <p:nvPr/>
          </p:nvSpPr>
          <p:spPr>
            <a:xfrm>
              <a:off x="44564" y="55539"/>
              <a:ext cx="1435178" cy="4558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18288" tIns="18288" rIns="18288" bIns="18288" numCol="1" anchor="ctr">
              <a:spAutoFit/>
            </a:bodyPr>
            <a:lstStyle/>
            <a:p>
              <a:pPr algn="ctr">
                <a:defRPr sz="1000" b="1">
                  <a:solidFill>
                    <a:srgbClr val="FFFFFF"/>
                  </a:solidFill>
                </a:defRPr>
              </a:pPr>
              <a:r>
                <a:t>4  Safety engine</a:t>
              </a:r>
            </a:p>
            <a:p>
              <a:pPr algn="ctr">
                <a:defRPr sz="900">
                  <a:solidFill>
                    <a:srgbClr val="FFFFFF"/>
                  </a:solidFill>
                </a:defRPr>
              </a:pPr>
              <a:r>
                <a:t>overlap · reviewed rules · dose</a:t>
              </a:r>
            </a:p>
          </p:txBody>
        </p:sp>
      </p:grpSp>
      <p:grpSp>
        <p:nvGrpSpPr>
          <p:cNvPr id="133" name="Arch step 5"/>
          <p:cNvGrpSpPr/>
          <p:nvPr/>
        </p:nvGrpSpPr>
        <p:grpSpPr>
          <a:xfrm>
            <a:off x="2438705" y="4443984"/>
            <a:ext cx="1524306" cy="566929"/>
            <a:chOff x="0" y="0"/>
            <a:chExt cx="1524305" cy="566927"/>
          </a:xfrm>
        </p:grpSpPr>
        <p:sp>
          <p:nvSpPr>
            <p:cNvPr id="131" name="Rounded Rectangle"/>
            <p:cNvSpPr/>
            <p:nvPr/>
          </p:nvSpPr>
          <p:spPr>
            <a:xfrm>
              <a:off x="0" y="0"/>
              <a:ext cx="1524306" cy="566928"/>
            </a:xfrm>
            <a:prstGeom prst="roundRect">
              <a:avLst>
                <a:gd name="adj" fmla="val 12000"/>
              </a:avLst>
            </a:prstGeom>
            <a:solidFill>
              <a:srgbClr val="12306F"/>
            </a:solidFill>
            <a:ln w="12700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/>
              </a:pPr>
            </a:p>
          </p:txBody>
        </p:sp>
        <p:sp>
          <p:nvSpPr>
            <p:cNvPr id="132" name="5  Risk prioritization…"/>
            <p:cNvSpPr txBox="1"/>
            <p:nvPr/>
          </p:nvSpPr>
          <p:spPr>
            <a:xfrm>
              <a:off x="44564" y="125389"/>
              <a:ext cx="1435178" cy="3161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18288" tIns="18288" rIns="18288" bIns="18288" numCol="1" anchor="ctr">
              <a:spAutoFit/>
            </a:bodyPr>
            <a:lstStyle/>
            <a:p>
              <a:pPr algn="ctr">
                <a:defRPr sz="1000" b="1">
                  <a:solidFill>
                    <a:srgbClr val="FFFFFF"/>
                  </a:solidFill>
                </a:defRPr>
              </a:pPr>
              <a:r>
                <a:t>5  Risk prioritization</a:t>
              </a:r>
            </a:p>
            <a:p>
              <a:pPr algn="ctr">
                <a:defRPr sz="900">
                  <a:solidFill>
                    <a:schemeClr val="accent4"/>
                  </a:solidFill>
                </a:defRPr>
              </a:pPr>
              <a:r>
                <a:t>severity ≠ match confidence</a:t>
              </a:r>
            </a:p>
          </p:txBody>
        </p:sp>
      </p:grpSp>
      <p:grpSp>
        <p:nvGrpSpPr>
          <p:cNvPr id="136" name="Arch step 6"/>
          <p:cNvGrpSpPr/>
          <p:nvPr/>
        </p:nvGrpSpPr>
        <p:grpSpPr>
          <a:xfrm>
            <a:off x="731519" y="4443984"/>
            <a:ext cx="1524307" cy="566929"/>
            <a:chOff x="0" y="0"/>
            <a:chExt cx="1524305" cy="566927"/>
          </a:xfrm>
        </p:grpSpPr>
        <p:sp>
          <p:nvSpPr>
            <p:cNvPr id="134" name="Rounded Rectangle"/>
            <p:cNvSpPr/>
            <p:nvPr/>
          </p:nvSpPr>
          <p:spPr>
            <a:xfrm>
              <a:off x="0" y="0"/>
              <a:ext cx="1524306" cy="566928"/>
            </a:xfrm>
            <a:prstGeom prst="roundRect">
              <a:avLst>
                <a:gd name="adj" fmla="val 12000"/>
              </a:avLst>
            </a:prstGeom>
            <a:solidFill>
              <a:srgbClr val="12306F"/>
            </a:solidFill>
            <a:ln w="12700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/>
              </a:pPr>
            </a:p>
          </p:txBody>
        </p:sp>
        <p:sp>
          <p:nvSpPr>
            <p:cNvPr id="135" name="6  Explainable output…"/>
            <p:cNvSpPr txBox="1"/>
            <p:nvPr/>
          </p:nvSpPr>
          <p:spPr>
            <a:xfrm>
              <a:off x="44564" y="125389"/>
              <a:ext cx="1435178" cy="3161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18288" tIns="18288" rIns="18288" bIns="18288" numCol="1" anchor="ctr">
              <a:spAutoFit/>
            </a:bodyPr>
            <a:lstStyle/>
            <a:p>
              <a:pPr algn="ctr">
                <a:defRPr sz="1000" b="1">
                  <a:solidFill>
                    <a:srgbClr val="FFFFFF"/>
                  </a:solidFill>
                </a:defRPr>
              </a:pPr>
              <a:r>
                <a:t>6  Explainable output</a:t>
              </a:r>
            </a:p>
            <a:p>
              <a:pPr algn="ctr">
                <a:defRPr sz="900">
                  <a:solidFill>
                    <a:schemeClr val="accent4"/>
                  </a:solidFill>
                </a:defRPr>
              </a:pPr>
              <a:r>
                <a:t>alerts · evidence · unknowns</a:t>
              </a:r>
            </a:p>
          </p:txBody>
        </p:sp>
      </p:grpSp>
      <p:grpSp>
        <p:nvGrpSpPr>
          <p:cNvPr id="139" name="Arch human review"/>
          <p:cNvGrpSpPr/>
          <p:nvPr/>
        </p:nvGrpSpPr>
        <p:grpSpPr>
          <a:xfrm>
            <a:off x="731519" y="5239511"/>
            <a:ext cx="1524307" cy="548641"/>
            <a:chOff x="0" y="0"/>
            <a:chExt cx="1524305" cy="548640"/>
          </a:xfrm>
        </p:grpSpPr>
        <p:sp>
          <p:nvSpPr>
            <p:cNvPr id="137" name="Rounded Rectangle"/>
            <p:cNvSpPr/>
            <p:nvPr/>
          </p:nvSpPr>
          <p:spPr>
            <a:xfrm>
              <a:off x="0" y="0"/>
              <a:ext cx="1524306" cy="548641"/>
            </a:xfrm>
            <a:prstGeom prst="roundRect">
              <a:avLst>
                <a:gd name="adj" fmla="val 12000"/>
              </a:avLst>
            </a:prstGeom>
            <a:solidFill>
              <a:srgbClr val="0B1A4A"/>
            </a:solidFill>
            <a:ln w="12700" cap="flat">
              <a:solidFill>
                <a:schemeClr val="accent2"/>
              </a:solidFill>
              <a:prstDash val="dash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/>
              </a:pPr>
            </a:p>
          </p:txBody>
        </p:sp>
        <p:sp>
          <p:nvSpPr>
            <p:cNvPr id="138" name="Professional review…"/>
            <p:cNvSpPr txBox="1"/>
            <p:nvPr/>
          </p:nvSpPr>
          <p:spPr>
            <a:xfrm>
              <a:off x="43920" y="116245"/>
              <a:ext cx="1436465" cy="3161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18288" tIns="18288" rIns="18288" bIns="18288" numCol="1" anchor="ctr">
              <a:spAutoFit/>
            </a:bodyPr>
            <a:lstStyle/>
            <a:p>
              <a:pPr algn="ctr">
                <a:defRPr sz="1000" b="1">
                  <a:solidFill>
                    <a:srgbClr val="FFFFFF"/>
                  </a:solidFill>
                </a:defRPr>
              </a:pPr>
              <a:r>
                <a:t>Professional review</a:t>
              </a:r>
            </a:p>
            <a:p>
              <a:pPr algn="ctr">
                <a:defRPr sz="900">
                  <a:solidFill>
                    <a:schemeClr val="accent4"/>
                  </a:solidFill>
                </a:defRPr>
              </a:pPr>
              <a:r>
                <a:t>pharmacist / clinician verifies</a:t>
              </a:r>
            </a:p>
          </p:txBody>
        </p:sp>
      </p:grpSp>
      <p:grpSp>
        <p:nvGrpSpPr>
          <p:cNvPr id="142" name="Arch test lab"/>
          <p:cNvGrpSpPr/>
          <p:nvPr/>
        </p:nvGrpSpPr>
        <p:grpSpPr>
          <a:xfrm>
            <a:off x="2438705" y="5239511"/>
            <a:ext cx="1524306" cy="548641"/>
            <a:chOff x="0" y="0"/>
            <a:chExt cx="1524305" cy="548640"/>
          </a:xfrm>
        </p:grpSpPr>
        <p:sp>
          <p:nvSpPr>
            <p:cNvPr id="140" name="Rounded Rectangle"/>
            <p:cNvSpPr/>
            <p:nvPr/>
          </p:nvSpPr>
          <p:spPr>
            <a:xfrm>
              <a:off x="0" y="0"/>
              <a:ext cx="1524306" cy="548641"/>
            </a:xfrm>
            <a:prstGeom prst="roundRect">
              <a:avLst>
                <a:gd name="adj" fmla="val 12000"/>
              </a:avLst>
            </a:prstGeom>
            <a:solidFill>
              <a:srgbClr val="0B1A4A"/>
            </a:solidFill>
            <a:ln w="12700" cap="flat">
              <a:solidFill>
                <a:schemeClr val="accent2"/>
              </a:solidFill>
              <a:prstDash val="dash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/>
              </a:pPr>
            </a:p>
          </p:txBody>
        </p:sp>
        <p:sp>
          <p:nvSpPr>
            <p:cNvPr id="141" name="Safety test laboratory…"/>
            <p:cNvSpPr txBox="1"/>
            <p:nvPr/>
          </p:nvSpPr>
          <p:spPr>
            <a:xfrm>
              <a:off x="43920" y="46395"/>
              <a:ext cx="1436465" cy="4558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18288" tIns="18288" rIns="18288" bIns="18288" numCol="1" anchor="ctr">
              <a:spAutoFit/>
            </a:bodyPr>
            <a:lstStyle/>
            <a:p>
              <a:pPr algn="ctr">
                <a:defRPr sz="1000" b="1">
                  <a:solidFill>
                    <a:srgbClr val="FFFFFF"/>
                  </a:solidFill>
                </a:defRPr>
              </a:pPr>
              <a:r>
                <a:t>Safety test laboratory</a:t>
              </a:r>
            </a:p>
            <a:p>
              <a:pPr algn="ctr">
                <a:defRPr sz="900">
                  <a:solidFill>
                    <a:schemeClr val="accent4"/>
                  </a:solidFill>
                </a:defRPr>
              </a:pPr>
              <a:r>
                <a:t>predefined cases + expected outcomes</a:t>
              </a:r>
            </a:p>
          </p:txBody>
        </p:sp>
      </p:grpSp>
      <p:grpSp>
        <p:nvGrpSpPr>
          <p:cNvPr id="145" name="Arch data store"/>
          <p:cNvGrpSpPr/>
          <p:nvPr/>
        </p:nvGrpSpPr>
        <p:grpSpPr>
          <a:xfrm>
            <a:off x="4145889" y="5239511"/>
            <a:ext cx="1524306" cy="548641"/>
            <a:chOff x="0" y="0"/>
            <a:chExt cx="1524305" cy="548640"/>
          </a:xfrm>
        </p:grpSpPr>
        <p:sp>
          <p:nvSpPr>
            <p:cNvPr id="143" name="Rounded Rectangle"/>
            <p:cNvSpPr/>
            <p:nvPr/>
          </p:nvSpPr>
          <p:spPr>
            <a:xfrm>
              <a:off x="0" y="0"/>
              <a:ext cx="1524306" cy="548641"/>
            </a:xfrm>
            <a:prstGeom prst="roundRect">
              <a:avLst>
                <a:gd name="adj" fmla="val 12000"/>
              </a:avLst>
            </a:prstGeom>
            <a:solidFill>
              <a:srgbClr val="0B1A4A"/>
            </a:solidFill>
            <a:ln w="12700" cap="flat">
              <a:solidFill>
                <a:schemeClr val="accent2"/>
              </a:solidFill>
              <a:prstDash val="dash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/>
              </a:pPr>
            </a:p>
          </p:txBody>
        </p:sp>
        <p:sp>
          <p:nvSpPr>
            <p:cNvPr id="144" name="JSON / SQLite…"/>
            <p:cNvSpPr txBox="1"/>
            <p:nvPr/>
          </p:nvSpPr>
          <p:spPr>
            <a:xfrm>
              <a:off x="43920" y="46395"/>
              <a:ext cx="1436465" cy="4558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18288" tIns="18288" rIns="18288" bIns="18288" numCol="1" anchor="ctr">
              <a:spAutoFit/>
            </a:bodyPr>
            <a:lstStyle/>
            <a:p>
              <a:pPr algn="ctr">
                <a:defRPr sz="1000" b="1">
                  <a:solidFill>
                    <a:srgbClr val="FFFFFF"/>
                  </a:solidFill>
                </a:defRPr>
              </a:pPr>
              <a:r>
                <a:t>JSON / SQLite</a:t>
              </a:r>
            </a:p>
            <a:p>
              <a:pPr algn="ctr">
                <a:defRPr sz="900">
                  <a:solidFill>
                    <a:schemeClr val="accent4"/>
                  </a:solidFill>
                </a:defRPr>
              </a:pPr>
              <a:r>
                <a:t>curated data + versioned rules</a:t>
              </a:r>
            </a:p>
          </p:txBody>
        </p:sp>
      </p:grpSp>
      <p:sp>
        <p:nvSpPr>
          <p:cNvPr id="156" name="Arrow UI-API"/>
          <p:cNvSpPr/>
          <p:nvPr/>
        </p:nvSpPr>
        <p:spPr>
          <a:xfrm>
            <a:off x="3200399" y="2795190"/>
            <a:ext cx="1" cy="1885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h="21600" extrusionOk="0">
                <a:moveTo>
                  <a:pt x="0" y="0"/>
                </a:moveTo>
                <a:cubicBezTo>
                  <a:pt x="0" y="7200"/>
                  <a:pt x="0" y="14400"/>
                  <a:pt x="0" y="21600"/>
                </a:cubicBezTo>
              </a:path>
            </a:pathLst>
          </a:custGeom>
          <a:ln w="19050">
            <a:solidFill>
              <a:schemeClr val="accent4"/>
            </a:solidFill>
            <a:tailEnd type="triangle"/>
          </a:ln>
        </p:spPr>
        <p:txBody>
          <a:bodyPr/>
          <a:lstStyle/>
          <a:p/>
        </p:txBody>
      </p:sp>
      <p:sp>
        <p:nvSpPr>
          <p:cNvPr id="147" name="Arrow API-1"/>
          <p:cNvSpPr/>
          <p:nvPr/>
        </p:nvSpPr>
        <p:spPr>
          <a:xfrm>
            <a:off x="1493672" y="3447288"/>
            <a:ext cx="1" cy="201169"/>
          </a:xfrm>
          <a:prstGeom prst="line">
            <a:avLst/>
          </a:prstGeom>
          <a:ln w="19050">
            <a:solidFill>
              <a:schemeClr val="accent4"/>
            </a:solidFill>
            <a:tailEnd type="triangle"/>
          </a:ln>
        </p:spPr>
        <p:txBody>
          <a:bodyPr lIns="45719" rIns="45719"/>
          <a:lstStyle/>
          <a:p/>
        </p:txBody>
      </p:sp>
      <p:sp>
        <p:nvSpPr>
          <p:cNvPr id="157" name="Arrow 1-2"/>
          <p:cNvSpPr/>
          <p:nvPr/>
        </p:nvSpPr>
        <p:spPr>
          <a:xfrm>
            <a:off x="2262266" y="3931919"/>
            <a:ext cx="170090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cubicBezTo>
                  <a:pt x="7200" y="0"/>
                  <a:pt x="14400" y="0"/>
                  <a:pt x="21600" y="0"/>
                </a:cubicBezTo>
              </a:path>
            </a:pathLst>
          </a:custGeom>
          <a:ln w="19050">
            <a:solidFill>
              <a:schemeClr val="accent4"/>
            </a:solidFill>
            <a:tailEnd type="triangle"/>
          </a:ln>
        </p:spPr>
        <p:txBody>
          <a:bodyPr/>
          <a:lstStyle/>
          <a:p/>
        </p:txBody>
      </p:sp>
      <p:sp>
        <p:nvSpPr>
          <p:cNvPr id="158" name="Arrow 2-3"/>
          <p:cNvSpPr/>
          <p:nvPr/>
        </p:nvSpPr>
        <p:spPr>
          <a:xfrm>
            <a:off x="3969451" y="3931919"/>
            <a:ext cx="170089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cubicBezTo>
                  <a:pt x="7200" y="0"/>
                  <a:pt x="14400" y="0"/>
                  <a:pt x="21600" y="0"/>
                </a:cubicBezTo>
              </a:path>
            </a:pathLst>
          </a:custGeom>
          <a:ln w="19050">
            <a:solidFill>
              <a:schemeClr val="accent4"/>
            </a:solidFill>
            <a:tailEnd type="triangle"/>
          </a:ln>
        </p:spPr>
        <p:txBody>
          <a:bodyPr/>
          <a:lstStyle/>
          <a:p/>
        </p:txBody>
      </p:sp>
      <p:sp>
        <p:nvSpPr>
          <p:cNvPr id="159" name="Arrow 3-4"/>
          <p:cNvSpPr/>
          <p:nvPr/>
        </p:nvSpPr>
        <p:spPr>
          <a:xfrm>
            <a:off x="4908042" y="4221543"/>
            <a:ext cx="1" cy="2160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h="21600" extrusionOk="0">
                <a:moveTo>
                  <a:pt x="0" y="0"/>
                </a:moveTo>
                <a:cubicBezTo>
                  <a:pt x="0" y="7200"/>
                  <a:pt x="0" y="14400"/>
                  <a:pt x="0" y="21600"/>
                </a:cubicBezTo>
              </a:path>
            </a:pathLst>
          </a:custGeom>
          <a:ln w="19050">
            <a:solidFill>
              <a:schemeClr val="accent4"/>
            </a:solidFill>
            <a:tailEnd type="triangle"/>
          </a:ln>
        </p:spPr>
        <p:txBody>
          <a:bodyPr/>
          <a:lstStyle/>
          <a:p/>
        </p:txBody>
      </p:sp>
      <p:sp>
        <p:nvSpPr>
          <p:cNvPr id="160" name="Arrow 4-5"/>
          <p:cNvSpPr/>
          <p:nvPr/>
        </p:nvSpPr>
        <p:spPr>
          <a:xfrm>
            <a:off x="3969451" y="4727448"/>
            <a:ext cx="170089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21600" y="0"/>
                </a:moveTo>
                <a:cubicBezTo>
                  <a:pt x="14400" y="0"/>
                  <a:pt x="7200" y="0"/>
                  <a:pt x="0" y="0"/>
                </a:cubicBezTo>
              </a:path>
            </a:pathLst>
          </a:custGeom>
          <a:ln w="19050">
            <a:solidFill>
              <a:schemeClr val="accent4"/>
            </a:solidFill>
            <a:tailEnd type="triangle"/>
          </a:ln>
        </p:spPr>
        <p:txBody>
          <a:bodyPr/>
          <a:lstStyle/>
          <a:p/>
        </p:txBody>
      </p:sp>
      <p:sp>
        <p:nvSpPr>
          <p:cNvPr id="161" name="Arrow 5-6"/>
          <p:cNvSpPr/>
          <p:nvPr/>
        </p:nvSpPr>
        <p:spPr>
          <a:xfrm>
            <a:off x="2262266" y="4727448"/>
            <a:ext cx="170090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21600" y="0"/>
                </a:moveTo>
                <a:cubicBezTo>
                  <a:pt x="14400" y="0"/>
                  <a:pt x="7200" y="0"/>
                  <a:pt x="0" y="0"/>
                </a:cubicBezTo>
              </a:path>
            </a:pathLst>
          </a:custGeom>
          <a:ln w="19050">
            <a:solidFill>
              <a:schemeClr val="accent4"/>
            </a:solidFill>
            <a:tailEnd type="triangle"/>
          </a:ln>
        </p:spPr>
        <p:txBody>
          <a:bodyPr/>
          <a:lstStyle/>
          <a:p/>
        </p:txBody>
      </p:sp>
      <p:sp>
        <p:nvSpPr>
          <p:cNvPr id="162" name="Arrow 6-review"/>
          <p:cNvSpPr/>
          <p:nvPr/>
        </p:nvSpPr>
        <p:spPr>
          <a:xfrm>
            <a:off x="1493672" y="5017071"/>
            <a:ext cx="1" cy="2160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h="21600" extrusionOk="0">
                <a:moveTo>
                  <a:pt x="0" y="0"/>
                </a:moveTo>
                <a:cubicBezTo>
                  <a:pt x="0" y="7200"/>
                  <a:pt x="0" y="14400"/>
                  <a:pt x="0" y="21600"/>
                </a:cubicBezTo>
              </a:path>
            </a:pathLst>
          </a:custGeom>
          <a:ln w="19050">
            <a:solidFill>
              <a:schemeClr val="accent4"/>
            </a:solidFill>
            <a:prstDash val="dash"/>
            <a:tailEnd type="triangle"/>
          </a:ln>
        </p:spPr>
        <p:txBody>
          <a:bodyPr/>
          <a:lstStyle/>
          <a:p/>
        </p:txBody>
      </p:sp>
      <p:sp>
        <p:nvSpPr>
          <p:cNvPr id="163" name="Arrow test-5"/>
          <p:cNvSpPr/>
          <p:nvPr/>
        </p:nvSpPr>
        <p:spPr>
          <a:xfrm>
            <a:off x="3200857" y="5017071"/>
            <a:ext cx="1" cy="2160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h="21600" extrusionOk="0">
                <a:moveTo>
                  <a:pt x="0" y="21600"/>
                </a:moveTo>
                <a:cubicBezTo>
                  <a:pt x="0" y="14400"/>
                  <a:pt x="0" y="7200"/>
                  <a:pt x="0" y="0"/>
                </a:cubicBezTo>
              </a:path>
            </a:pathLst>
          </a:custGeom>
          <a:ln w="19050">
            <a:solidFill>
              <a:schemeClr val="accent4"/>
            </a:solidFill>
            <a:prstDash val="dash"/>
            <a:tailEnd type="triangle"/>
          </a:ln>
        </p:spPr>
        <p:txBody>
          <a:bodyPr/>
          <a:lstStyle/>
          <a:p/>
        </p:txBody>
      </p:sp>
      <p:sp>
        <p:nvSpPr>
          <p:cNvPr id="164" name="Arrow data-4"/>
          <p:cNvSpPr/>
          <p:nvPr/>
        </p:nvSpPr>
        <p:spPr>
          <a:xfrm>
            <a:off x="4908042" y="5017071"/>
            <a:ext cx="1" cy="2160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cubicBezTo>
                  <a:pt x="0" y="14400"/>
                  <a:pt x="0" y="7200"/>
                  <a:pt x="0" y="0"/>
                </a:cubicBezTo>
              </a:path>
            </a:pathLst>
          </a:custGeom>
          <a:ln w="19050">
            <a:solidFill>
              <a:schemeClr val="accent4"/>
            </a:solidFill>
            <a:prstDash val="dash"/>
            <a:tailEnd type="triangle"/>
          </a:ln>
        </p:spPr>
        <p:txBody>
          <a:bodyPr/>
          <a:lstStyle/>
          <a:p/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ext 0"/>
          <p:cNvSpPr txBox="1"/>
          <p:nvPr/>
        </p:nvSpPr>
        <p:spPr>
          <a:xfrm>
            <a:off x="457199" y="1066658"/>
            <a:ext cx="11274554" cy="51844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3600" b="1" spc="20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t>USER EXPERIENCE &amp; DESIGN</a:t>
            </a:r>
          </a:p>
        </p:txBody>
      </p:sp>
      <p:sp>
        <p:nvSpPr>
          <p:cNvPr id="167" name="Team tag"/>
          <p:cNvSpPr txBox="1"/>
          <p:nvPr/>
        </p:nvSpPr>
        <p:spPr>
          <a:xfrm>
            <a:off x="8503919" y="1178867"/>
            <a:ext cx="3227833" cy="15686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r">
              <a:defRPr sz="1200">
                <a:solidFill>
                  <a:schemeClr val="accent4"/>
                </a:solidFill>
              </a:defRPr>
            </a:lvl1pPr>
          </a:lstStyle>
          <a:p>
            <a:r>
              <a:t>TRIKΛΛL  |  Team ID:</a:t>
            </a:r>
          </a:p>
        </p:txBody>
      </p:sp>
      <p:sp>
        <p:nvSpPr>
          <p:cNvPr id="168" name="UI card"/>
          <p:cNvSpPr/>
          <p:nvPr/>
        </p:nvSpPr>
        <p:spPr>
          <a:xfrm>
            <a:off x="457200" y="1691639"/>
            <a:ext cx="3657600" cy="4434842"/>
          </a:xfrm>
          <a:prstGeom prst="roundRect">
            <a:avLst>
              <a:gd name="adj" fmla="val 3000"/>
            </a:avLst>
          </a:prstGeom>
          <a:solidFill>
            <a:srgbClr val="0B1A4A">
              <a:alpha val="75000"/>
            </a:srgbClr>
          </a:solidFill>
          <a:ln w="12700">
            <a:solidFill>
              <a:schemeClr val="accent1"/>
            </a:solidFill>
          </a:ln>
        </p:spPr>
        <p:txBody>
          <a:bodyPr lIns="45719" rIns="45719"/>
          <a:lstStyle/>
          <a:p/>
        </p:txBody>
      </p:sp>
      <p:sp>
        <p:nvSpPr>
          <p:cNvPr id="169" name="UI head"/>
          <p:cNvSpPr txBox="1"/>
          <p:nvPr/>
        </p:nvSpPr>
        <p:spPr>
          <a:xfrm>
            <a:off x="731519" y="1929706"/>
            <a:ext cx="3108962" cy="20966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500" b="1" spc="200">
                <a:solidFill>
                  <a:schemeClr val="accen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t>USER INTERFACE</a:t>
            </a:r>
          </a:p>
        </p:txBody>
      </p:sp>
      <p:sp>
        <p:nvSpPr>
          <p:cNvPr id="170" name="UI body"/>
          <p:cNvSpPr txBox="1"/>
          <p:nvPr/>
        </p:nvSpPr>
        <p:spPr>
          <a:xfrm>
            <a:off x="731519" y="2286000"/>
            <a:ext cx="3108962" cy="294806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228600" indent="-228600">
              <a:spcBef>
                <a:spcPts val="3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Prescription text input</a:t>
            </a:r>
          </a:p>
          <a:p>
            <a:pPr marL="228600" indent="-228600">
              <a:spcBef>
                <a:spcPts val="3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Relevant patient-context fields</a:t>
            </a:r>
          </a:p>
          <a:p>
            <a:pPr marL="228600" indent="-228600">
              <a:spcBef>
                <a:spcPts val="3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Parsed medicine table</a:t>
            </a:r>
          </a:p>
          <a:p>
            <a:pPr marL="228600" indent="-228600">
              <a:spcBef>
                <a:spcPts val="3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Brand → ingredient mappings</a:t>
            </a:r>
          </a:p>
          <a:p>
            <a:pPr marL="228600" indent="-228600">
              <a:spcBef>
                <a:spcPts val="3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Prioritized alert cards</a:t>
            </a:r>
          </a:p>
          <a:p>
            <a:pPr marL="228600" indent="-228600">
              <a:spcBef>
                <a:spcPts val="3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Duplicate-ingredient relationship diagram</a:t>
            </a:r>
          </a:p>
          <a:p>
            <a:pPr marL="228600" indent="-228600">
              <a:spcBef>
                <a:spcPts val="3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Evidence and explanation panel</a:t>
            </a:r>
          </a:p>
          <a:p>
            <a:pPr marL="228600" indent="-228600">
              <a:spcBef>
                <a:spcPts val="6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Test laboratory with predefined cases</a:t>
            </a:r>
          </a:p>
          <a:p>
            <a:pPr marL="228600" indent="-228600">
              <a:spcBef>
                <a:spcPts val="300"/>
              </a:spcBef>
              <a:buSzPct val="100000"/>
              <a:buChar char="•"/>
              <a:defRPr sz="1300" b="1">
                <a:solidFill>
                  <a:schemeClr val="accent4"/>
                </a:solidFill>
              </a:defRPr>
            </a:pPr>
            <a:r>
              <a:t>Accessibility: </a:t>
            </a:r>
            <a:r>
              <a:rPr b="0">
                <a:solidFill>
                  <a:srgbClr val="FFFFFF"/>
                </a:solidFill>
              </a:rPr>
              <a:t>readable type, high contrast, text labels beside severity colors, keyboard-friendly controls where implemented, plain language, consistent warning placement</a:t>
            </a:r>
            <a:endParaRPr b="0">
              <a:solidFill>
                <a:srgbClr val="FFFFFF"/>
              </a:solidFill>
            </a:endParaRPr>
          </a:p>
        </p:txBody>
      </p:sp>
      <p:sp>
        <p:nvSpPr>
          <p:cNvPr id="171" name="Flow card"/>
          <p:cNvSpPr/>
          <p:nvPr/>
        </p:nvSpPr>
        <p:spPr>
          <a:xfrm>
            <a:off x="4270247" y="1691639"/>
            <a:ext cx="3657601" cy="4434842"/>
          </a:xfrm>
          <a:prstGeom prst="roundRect">
            <a:avLst>
              <a:gd name="adj" fmla="val 3000"/>
            </a:avLst>
          </a:prstGeom>
          <a:solidFill>
            <a:srgbClr val="0B1A4A">
              <a:alpha val="75000"/>
            </a:srgbClr>
          </a:solidFill>
          <a:ln w="12700">
            <a:solidFill>
              <a:schemeClr val="accent1"/>
            </a:solidFill>
          </a:ln>
        </p:spPr>
        <p:txBody>
          <a:bodyPr lIns="45719" rIns="45719"/>
          <a:lstStyle/>
          <a:p/>
        </p:txBody>
      </p:sp>
      <p:sp>
        <p:nvSpPr>
          <p:cNvPr id="172" name="Flow head"/>
          <p:cNvSpPr txBox="1"/>
          <p:nvPr/>
        </p:nvSpPr>
        <p:spPr>
          <a:xfrm>
            <a:off x="4544567" y="1929706"/>
            <a:ext cx="3108961" cy="20966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500" b="1" spc="200">
                <a:solidFill>
                  <a:schemeClr val="accen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t>USER FLOW</a:t>
            </a:r>
          </a:p>
        </p:txBody>
      </p:sp>
      <p:sp>
        <p:nvSpPr>
          <p:cNvPr id="173" name="Flow dot 1"/>
          <p:cNvSpPr/>
          <p:nvPr/>
        </p:nvSpPr>
        <p:spPr>
          <a:xfrm>
            <a:off x="4544567" y="2331720"/>
            <a:ext cx="502921" cy="502921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/>
        </p:txBody>
      </p:sp>
      <p:sp>
        <p:nvSpPr>
          <p:cNvPr id="174" name="Text 8"/>
          <p:cNvSpPr txBox="1"/>
          <p:nvPr/>
        </p:nvSpPr>
        <p:spPr>
          <a:xfrm>
            <a:off x="4544567" y="2472203"/>
            <a:ext cx="502920" cy="22195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>
              <a:defRPr sz="16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t>1</a:t>
            </a:r>
          </a:p>
        </p:txBody>
      </p:sp>
      <p:sp>
        <p:nvSpPr>
          <p:cNvPr id="175" name="Text 9"/>
          <p:cNvSpPr txBox="1"/>
          <p:nvPr/>
        </p:nvSpPr>
        <p:spPr>
          <a:xfrm>
            <a:off x="5212079" y="2319196"/>
            <a:ext cx="2560321" cy="527968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>
              <a:spcBef>
                <a:spcPts val="200"/>
              </a:spcBef>
              <a:defRPr sz="1300" b="1">
                <a:solidFill>
                  <a:schemeClr val="accent4"/>
                </a:solidFill>
              </a:defRPr>
            </a:pPr>
            <a:r>
              <a:t>Step 1 – Enter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Paste a typed prescription and add relevant patient context</a:t>
            </a:r>
          </a:p>
        </p:txBody>
      </p:sp>
      <p:sp>
        <p:nvSpPr>
          <p:cNvPr id="176" name="Flow dot 2"/>
          <p:cNvSpPr/>
          <p:nvPr/>
        </p:nvSpPr>
        <p:spPr>
          <a:xfrm>
            <a:off x="4544567" y="3520440"/>
            <a:ext cx="502921" cy="502921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/>
        </p:txBody>
      </p:sp>
      <p:sp>
        <p:nvSpPr>
          <p:cNvPr id="177" name="Text 11"/>
          <p:cNvSpPr txBox="1"/>
          <p:nvPr/>
        </p:nvSpPr>
        <p:spPr>
          <a:xfrm>
            <a:off x="4544567" y="3660923"/>
            <a:ext cx="502920" cy="22195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>
              <a:defRPr sz="16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t>2</a:t>
            </a:r>
          </a:p>
        </p:txBody>
      </p:sp>
      <p:sp>
        <p:nvSpPr>
          <p:cNvPr id="178" name="Text 12"/>
          <p:cNvSpPr txBox="1"/>
          <p:nvPr/>
        </p:nvSpPr>
        <p:spPr>
          <a:xfrm>
            <a:off x="5212079" y="3507916"/>
            <a:ext cx="2560321" cy="527968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>
              <a:spcBef>
                <a:spcPts val="200"/>
              </a:spcBef>
              <a:defRPr sz="1300" b="1">
                <a:solidFill>
                  <a:schemeClr val="accent4"/>
                </a:solidFill>
              </a:defRPr>
            </a:pPr>
            <a:r>
              <a:t>Step 2 – Analyze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Parse, resolve brands, find ingredient overlap, apply reviewed rules</a:t>
            </a:r>
          </a:p>
        </p:txBody>
      </p:sp>
      <p:sp>
        <p:nvSpPr>
          <p:cNvPr id="179" name="Flow dot 3"/>
          <p:cNvSpPr/>
          <p:nvPr/>
        </p:nvSpPr>
        <p:spPr>
          <a:xfrm>
            <a:off x="4544567" y="4709159"/>
            <a:ext cx="502921" cy="502921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/>
        </p:txBody>
      </p:sp>
      <p:sp>
        <p:nvSpPr>
          <p:cNvPr id="180" name="Text 14"/>
          <p:cNvSpPr txBox="1"/>
          <p:nvPr/>
        </p:nvSpPr>
        <p:spPr>
          <a:xfrm>
            <a:off x="4544567" y="4849643"/>
            <a:ext cx="502920" cy="22195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>
              <a:defRPr sz="16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t>3</a:t>
            </a:r>
          </a:p>
        </p:txBody>
      </p:sp>
      <p:sp>
        <p:nvSpPr>
          <p:cNvPr id="181" name="Text 15"/>
          <p:cNvSpPr txBox="1"/>
          <p:nvPr/>
        </p:nvSpPr>
        <p:spPr>
          <a:xfrm>
            <a:off x="5212079" y="4696635"/>
            <a:ext cx="2560321" cy="52796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>
              <a:spcBef>
                <a:spcPts val="200"/>
              </a:spcBef>
              <a:defRPr sz="1300" b="1">
                <a:solidFill>
                  <a:schemeClr val="accent4"/>
                </a:solidFill>
              </a:defRPr>
            </a:pPr>
            <a:r>
              <a:t>Step 3 – Review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Prioritized report with evidence, uncertainties and items to verify</a:t>
            </a:r>
          </a:p>
        </p:txBody>
      </p:sp>
      <p:sp>
        <p:nvSpPr>
          <p:cNvPr id="182" name="Goal card"/>
          <p:cNvSpPr/>
          <p:nvPr/>
        </p:nvSpPr>
        <p:spPr>
          <a:xfrm>
            <a:off x="8074152" y="1691639"/>
            <a:ext cx="3657601" cy="4434842"/>
          </a:xfrm>
          <a:prstGeom prst="roundRect">
            <a:avLst>
              <a:gd name="adj" fmla="val 3000"/>
            </a:avLst>
          </a:prstGeom>
          <a:solidFill>
            <a:srgbClr val="0B1A4A">
              <a:alpha val="75000"/>
            </a:srgbClr>
          </a:solidFill>
          <a:ln w="12700">
            <a:solidFill>
              <a:schemeClr val="accent1"/>
            </a:solidFill>
          </a:ln>
        </p:spPr>
        <p:txBody>
          <a:bodyPr lIns="45719" rIns="45719"/>
          <a:lstStyle/>
          <a:p/>
        </p:txBody>
      </p:sp>
      <p:sp>
        <p:nvSpPr>
          <p:cNvPr id="183" name="Goal head"/>
          <p:cNvSpPr txBox="1"/>
          <p:nvPr/>
        </p:nvSpPr>
        <p:spPr>
          <a:xfrm>
            <a:off x="8348471" y="1929706"/>
            <a:ext cx="3108961" cy="20966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500" b="1" spc="200">
                <a:solidFill>
                  <a:schemeClr val="accen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t>DESIGN GOAL</a:t>
            </a:r>
          </a:p>
        </p:txBody>
      </p:sp>
      <p:sp>
        <p:nvSpPr>
          <p:cNvPr id="184" name="Goal body"/>
          <p:cNvSpPr txBox="1"/>
          <p:nvPr/>
        </p:nvSpPr>
        <p:spPr>
          <a:xfrm>
            <a:off x="8348471" y="2286000"/>
            <a:ext cx="3108961" cy="1289968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Make potential medication-safety concerns easier to identify, understand, and verify without overwhelming users with unnecessary alerts.</a:t>
            </a:r>
          </a:p>
          <a:p>
            <a:pPr>
              <a:defRPr sz="1100" i="1">
                <a:solidFill>
                  <a:schemeClr val="accent4"/>
                </a:solidFill>
              </a:defRPr>
            </a:pPr>
            <a:r>
              <a:t>Supports medication review. The absence of an alert does not mean a prescription is safe.</a:t>
            </a:r>
          </a:p>
        </p:txBody>
      </p:sp>
      <p:sp>
        <p:nvSpPr>
          <p:cNvPr id="185" name="Wireframe placeholder"/>
          <p:cNvSpPr txBox="1"/>
          <p:nvPr/>
        </p:nvSpPr>
        <p:spPr>
          <a:xfrm>
            <a:off x="8394191" y="4229144"/>
            <a:ext cx="3017521" cy="228511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spAutoFit/>
          </a:bodyPr>
          <a:lstStyle>
            <a:lvl1pPr algn="ctr">
              <a:defRPr sz="1000" i="1">
                <a:solidFill>
                  <a:schemeClr val="accent4"/>
                </a:solidFill>
              </a:defRPr>
            </a:lvl1pPr>
          </a:lstStyle>
          <a:p>
            <a:r>
              <a:t>Proposed wireframe – not a screenshot</a:t>
            </a:r>
          </a:p>
        </p:txBody>
      </p:sp>
      <p:sp>
        <p:nvSpPr>
          <p:cNvPr id="186" name="Slide Number Placeholder 0"/>
          <p:cNvSpPr txBox="1"/>
          <p:nvPr>
            <p:ph type="sldNum" sz="quarter" idx="4294967295"/>
          </p:nvPr>
        </p:nvSpPr>
        <p:spPr>
          <a:xfrm>
            <a:off x="11556980" y="6428232"/>
            <a:ext cx="174773" cy="226986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187" name="Wireframe frame"/>
          <p:cNvSpPr/>
          <p:nvPr/>
        </p:nvSpPr>
        <p:spPr>
          <a:xfrm>
            <a:off x="8348471" y="4498847"/>
            <a:ext cx="3108961" cy="1481329"/>
          </a:xfrm>
          <a:prstGeom prst="roundRect">
            <a:avLst>
              <a:gd name="adj" fmla="val 5000"/>
            </a:avLst>
          </a:prstGeom>
          <a:solidFill>
            <a:srgbClr val="071238"/>
          </a:solidFill>
          <a:ln w="12700">
            <a:solidFill>
              <a:schemeClr val="accent2"/>
            </a:solidFill>
          </a:ln>
        </p:spPr>
        <p:txBody>
          <a:bodyPr lIns="45719" rIns="45719" anchor="ctr"/>
          <a:lstStyle/>
          <a:p>
            <a:pPr>
              <a:spcBef>
                <a:spcPts val="400"/>
              </a:spcBef>
              <a:defRPr sz="800"/>
            </a:pPr>
          </a:p>
        </p:txBody>
      </p:sp>
      <p:grpSp>
        <p:nvGrpSpPr>
          <p:cNvPr id="190" name="WF prescription input"/>
          <p:cNvGrpSpPr/>
          <p:nvPr/>
        </p:nvGrpSpPr>
        <p:grpSpPr>
          <a:xfrm>
            <a:off x="8439911" y="4590288"/>
            <a:ext cx="1097281" cy="566929"/>
            <a:chOff x="0" y="0"/>
            <a:chExt cx="1097280" cy="566927"/>
          </a:xfrm>
        </p:grpSpPr>
        <p:sp>
          <p:nvSpPr>
            <p:cNvPr id="188" name="Rounded Rectangle"/>
            <p:cNvSpPr/>
            <p:nvPr/>
          </p:nvSpPr>
          <p:spPr>
            <a:xfrm>
              <a:off x="0" y="0"/>
              <a:ext cx="1097281" cy="566928"/>
            </a:xfrm>
            <a:prstGeom prst="roundRect">
              <a:avLst>
                <a:gd name="adj" fmla="val 8000"/>
              </a:avLst>
            </a:prstGeom>
            <a:solidFill>
              <a:srgbClr val="12306F"/>
            </a:solidFill>
            <a:ln w="12700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900"/>
              </a:pPr>
            </a:p>
          </p:txBody>
        </p:sp>
        <p:sp>
          <p:nvSpPr>
            <p:cNvPr id="189" name="Paste prescription text…"/>
            <p:cNvSpPr txBox="1"/>
            <p:nvPr/>
          </p:nvSpPr>
          <p:spPr>
            <a:xfrm>
              <a:off x="47066" y="19634"/>
              <a:ext cx="1003148" cy="2907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18288" tIns="18288" rIns="18288" bIns="18288" numCol="1" anchor="t">
              <a:spAutoFit/>
            </a:bodyPr>
            <a:lstStyle>
              <a:lvl1pPr>
                <a:defRPr sz="900" i="1">
                  <a:solidFill>
                    <a:schemeClr val="accent4"/>
                  </a:solidFill>
                </a:defRPr>
              </a:lvl1pPr>
            </a:lstStyle>
            <a:p>
              <a:r>
                <a:t>Paste prescription text…</a:t>
              </a:r>
            </a:p>
          </p:txBody>
        </p:sp>
      </p:grpSp>
      <p:grpSp>
        <p:nvGrpSpPr>
          <p:cNvPr id="193" name="WF patient context"/>
          <p:cNvGrpSpPr/>
          <p:nvPr/>
        </p:nvGrpSpPr>
        <p:grpSpPr>
          <a:xfrm>
            <a:off x="8439911" y="5212079"/>
            <a:ext cx="1097281" cy="310897"/>
            <a:chOff x="0" y="0"/>
            <a:chExt cx="1097280" cy="310895"/>
          </a:xfrm>
        </p:grpSpPr>
        <p:sp>
          <p:nvSpPr>
            <p:cNvPr id="191" name="Rounded Rectangle"/>
            <p:cNvSpPr/>
            <p:nvPr/>
          </p:nvSpPr>
          <p:spPr>
            <a:xfrm>
              <a:off x="0" y="0"/>
              <a:ext cx="1097281" cy="310896"/>
            </a:xfrm>
            <a:prstGeom prst="roundRect">
              <a:avLst>
                <a:gd name="adj" fmla="val 8000"/>
              </a:avLst>
            </a:prstGeom>
            <a:solidFill>
              <a:srgbClr val="12306F"/>
            </a:solidFill>
            <a:ln w="12700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/>
              </a:pPr>
            </a:p>
          </p:txBody>
        </p:sp>
        <p:sp>
          <p:nvSpPr>
            <p:cNvPr id="192" name="Patient context"/>
            <p:cNvSpPr txBox="1"/>
            <p:nvPr/>
          </p:nvSpPr>
          <p:spPr>
            <a:xfrm>
              <a:off x="31923" y="79923"/>
              <a:ext cx="1033435" cy="1510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18288" tIns="18288" rIns="18288" bIns="18288" numCol="1" anchor="ctr">
              <a:spAutoFit/>
            </a:bodyPr>
            <a:lstStyle>
              <a:lvl1pPr algn="ctr">
                <a:defRPr sz="900">
                  <a:solidFill>
                    <a:srgbClr val="FFFFFF"/>
                  </a:solidFill>
                </a:defRPr>
              </a:lvl1pPr>
            </a:lstStyle>
            <a:p>
              <a:r>
                <a:t>Patient context</a:t>
              </a:r>
            </a:p>
          </p:txBody>
        </p:sp>
      </p:grpSp>
      <p:grpSp>
        <p:nvGrpSpPr>
          <p:cNvPr id="196" name="WF analyze button"/>
          <p:cNvGrpSpPr/>
          <p:nvPr/>
        </p:nvGrpSpPr>
        <p:grpSpPr>
          <a:xfrm>
            <a:off x="8439911" y="5577840"/>
            <a:ext cx="1097281" cy="292609"/>
            <a:chOff x="0" y="0"/>
            <a:chExt cx="1097280" cy="292608"/>
          </a:xfrm>
        </p:grpSpPr>
        <p:sp>
          <p:nvSpPr>
            <p:cNvPr id="194" name="Rounded Rectangle"/>
            <p:cNvSpPr/>
            <p:nvPr/>
          </p:nvSpPr>
          <p:spPr>
            <a:xfrm>
              <a:off x="0" y="0"/>
              <a:ext cx="1097281" cy="292609"/>
            </a:xfrm>
            <a:prstGeom prst="roundRect">
              <a:avLst>
                <a:gd name="adj" fmla="val 20000"/>
              </a:avLst>
            </a:prstGeom>
            <a:solidFill>
              <a:schemeClr val="accent1"/>
            </a:solidFill>
            <a:ln w="12700" cap="flat">
              <a:solidFill>
                <a:schemeClr val="accent4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/>
              </a:pPr>
            </a:p>
          </p:txBody>
        </p:sp>
        <p:sp>
          <p:nvSpPr>
            <p:cNvPr id="195" name="Analyze"/>
            <p:cNvSpPr txBox="1"/>
            <p:nvPr/>
          </p:nvSpPr>
          <p:spPr>
            <a:xfrm>
              <a:off x="41777" y="70779"/>
              <a:ext cx="1013726" cy="1510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18288" tIns="18288" rIns="18288" bIns="18288" numCol="1" anchor="ctr">
              <a:spAutoFit/>
            </a:bodyPr>
            <a:lstStyle>
              <a:lvl1pPr algn="ctr">
                <a:defRPr sz="900" b="1">
                  <a:solidFill>
                    <a:srgbClr val="FFFFFF"/>
                  </a:solidFill>
                </a:defRPr>
              </a:lvl1pPr>
            </a:lstStyle>
            <a:p>
              <a:r>
                <a:t>Analyze</a:t>
              </a:r>
            </a:p>
          </p:txBody>
        </p:sp>
      </p:grpSp>
      <p:grpSp>
        <p:nvGrpSpPr>
          <p:cNvPr id="199" name="WF alert 1"/>
          <p:cNvGrpSpPr/>
          <p:nvPr/>
        </p:nvGrpSpPr>
        <p:grpSpPr>
          <a:xfrm>
            <a:off x="9628631" y="4590288"/>
            <a:ext cx="1737361" cy="274321"/>
            <a:chOff x="0" y="0"/>
            <a:chExt cx="1737360" cy="274320"/>
          </a:xfrm>
        </p:grpSpPr>
        <p:sp>
          <p:nvSpPr>
            <p:cNvPr id="197" name="Rounded Rectangle"/>
            <p:cNvSpPr/>
            <p:nvPr/>
          </p:nvSpPr>
          <p:spPr>
            <a:xfrm>
              <a:off x="0" y="0"/>
              <a:ext cx="1737361" cy="274321"/>
            </a:xfrm>
            <a:prstGeom prst="roundRect">
              <a:avLst>
                <a:gd name="adj" fmla="val 15000"/>
              </a:avLst>
            </a:prstGeom>
            <a:solidFill>
              <a:srgbClr val="12306F"/>
            </a:solidFill>
            <a:ln w="12700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900"/>
              </a:pPr>
            </a:p>
          </p:txBody>
        </p:sp>
        <p:sp>
          <p:nvSpPr>
            <p:cNvPr id="198" name="HIGH PRIORITY"/>
            <p:cNvSpPr txBox="1"/>
            <p:nvPr/>
          </p:nvSpPr>
          <p:spPr>
            <a:xfrm>
              <a:off x="274433" y="61635"/>
              <a:ext cx="1188494" cy="1510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18288" tIns="18288" rIns="18288" bIns="18288" numCol="1" anchor="ctr">
              <a:spAutoFit/>
            </a:bodyPr>
            <a:lstStyle>
              <a:lvl1pPr>
                <a:defRPr sz="900" b="1">
                  <a:solidFill>
                    <a:srgbClr val="FFFFFF"/>
                  </a:solidFill>
                </a:defRPr>
              </a:lvl1pPr>
            </a:lstStyle>
            <a:p>
              <a:r>
                <a:t>HIGH PRIORITY</a:t>
              </a:r>
            </a:p>
          </p:txBody>
        </p:sp>
      </p:grpSp>
      <p:sp>
        <p:nvSpPr>
          <p:cNvPr id="200" name="WF alert dot 1"/>
          <p:cNvSpPr/>
          <p:nvPr/>
        </p:nvSpPr>
        <p:spPr>
          <a:xfrm>
            <a:off x="9720071" y="4672584"/>
            <a:ext cx="109729" cy="109729"/>
          </a:xfrm>
          <a:prstGeom prst="ellipse">
            <a:avLst/>
          </a:prstGeom>
          <a:solidFill>
            <a:srgbClr val="FF6B6B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400"/>
              </a:spcBef>
              <a:defRPr sz="600"/>
            </a:pPr>
          </a:p>
        </p:txBody>
      </p:sp>
      <p:grpSp>
        <p:nvGrpSpPr>
          <p:cNvPr id="203" name="WF alert 2"/>
          <p:cNvGrpSpPr/>
          <p:nvPr/>
        </p:nvGrpSpPr>
        <p:grpSpPr>
          <a:xfrm>
            <a:off x="9628631" y="4919471"/>
            <a:ext cx="1737361" cy="274321"/>
            <a:chOff x="0" y="0"/>
            <a:chExt cx="1737360" cy="274320"/>
          </a:xfrm>
        </p:grpSpPr>
        <p:sp>
          <p:nvSpPr>
            <p:cNvPr id="201" name="Rounded Rectangle"/>
            <p:cNvSpPr/>
            <p:nvPr/>
          </p:nvSpPr>
          <p:spPr>
            <a:xfrm>
              <a:off x="0" y="0"/>
              <a:ext cx="1737361" cy="274321"/>
            </a:xfrm>
            <a:prstGeom prst="roundRect">
              <a:avLst>
                <a:gd name="adj" fmla="val 15000"/>
              </a:avLst>
            </a:prstGeom>
            <a:solidFill>
              <a:srgbClr val="12306F"/>
            </a:solidFill>
            <a:ln w="12700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900"/>
              </a:pPr>
            </a:p>
          </p:txBody>
        </p:sp>
        <p:sp>
          <p:nvSpPr>
            <p:cNvPr id="202" name="REVIEW REQUIRED"/>
            <p:cNvSpPr txBox="1"/>
            <p:nvPr/>
          </p:nvSpPr>
          <p:spPr>
            <a:xfrm>
              <a:off x="274433" y="61635"/>
              <a:ext cx="1188494" cy="1510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18288" tIns="18288" rIns="18288" bIns="18288" numCol="1" anchor="ctr">
              <a:spAutoFit/>
            </a:bodyPr>
            <a:lstStyle>
              <a:lvl1pPr>
                <a:defRPr sz="900" b="1">
                  <a:solidFill>
                    <a:srgbClr val="FFFFFF"/>
                  </a:solidFill>
                </a:defRPr>
              </a:lvl1pPr>
            </a:lstStyle>
            <a:p>
              <a:r>
                <a:t>REVIEW REQUIRED</a:t>
              </a:r>
            </a:p>
          </p:txBody>
        </p:sp>
      </p:grpSp>
      <p:sp>
        <p:nvSpPr>
          <p:cNvPr id="204" name="WF alert dot 2"/>
          <p:cNvSpPr/>
          <p:nvPr/>
        </p:nvSpPr>
        <p:spPr>
          <a:xfrm>
            <a:off x="9720071" y="5001767"/>
            <a:ext cx="109729" cy="109729"/>
          </a:xfrm>
          <a:prstGeom prst="ellipse">
            <a:avLst/>
          </a:prstGeom>
          <a:solidFill>
            <a:srgbClr val="FFC857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400"/>
              </a:spcBef>
              <a:defRPr sz="600"/>
            </a:pPr>
          </a:p>
        </p:txBody>
      </p:sp>
      <p:grpSp>
        <p:nvGrpSpPr>
          <p:cNvPr id="207" name="WF alert 3"/>
          <p:cNvGrpSpPr/>
          <p:nvPr/>
        </p:nvGrpSpPr>
        <p:grpSpPr>
          <a:xfrm>
            <a:off x="9628631" y="5248655"/>
            <a:ext cx="1737361" cy="274321"/>
            <a:chOff x="0" y="0"/>
            <a:chExt cx="1737360" cy="274320"/>
          </a:xfrm>
        </p:grpSpPr>
        <p:sp>
          <p:nvSpPr>
            <p:cNvPr id="205" name="Rounded Rectangle"/>
            <p:cNvSpPr/>
            <p:nvPr/>
          </p:nvSpPr>
          <p:spPr>
            <a:xfrm>
              <a:off x="0" y="0"/>
              <a:ext cx="1737361" cy="274321"/>
            </a:xfrm>
            <a:prstGeom prst="roundRect">
              <a:avLst>
                <a:gd name="adj" fmla="val 15000"/>
              </a:avLst>
            </a:prstGeom>
            <a:solidFill>
              <a:srgbClr val="12306F"/>
            </a:solidFill>
            <a:ln w="12700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900"/>
              </a:pPr>
            </a:p>
          </p:txBody>
        </p:sp>
        <p:sp>
          <p:nvSpPr>
            <p:cNvPr id="206" name="INFO NOTE"/>
            <p:cNvSpPr txBox="1"/>
            <p:nvPr/>
          </p:nvSpPr>
          <p:spPr>
            <a:xfrm>
              <a:off x="274433" y="61635"/>
              <a:ext cx="1188494" cy="1510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18288" tIns="18288" rIns="18288" bIns="18288" numCol="1" anchor="ctr">
              <a:spAutoFit/>
            </a:bodyPr>
            <a:lstStyle>
              <a:lvl1pPr>
                <a:defRPr sz="900" b="1">
                  <a:solidFill>
                    <a:srgbClr val="FFFFFF"/>
                  </a:solidFill>
                </a:defRPr>
              </a:lvl1pPr>
            </a:lstStyle>
            <a:p>
              <a:r>
                <a:t>INFO NOTE</a:t>
              </a:r>
            </a:p>
          </p:txBody>
        </p:sp>
      </p:grpSp>
      <p:sp>
        <p:nvSpPr>
          <p:cNvPr id="208" name="WF alert dot 3"/>
          <p:cNvSpPr/>
          <p:nvPr/>
        </p:nvSpPr>
        <p:spPr>
          <a:xfrm>
            <a:off x="9720071" y="5330952"/>
            <a:ext cx="109729" cy="109729"/>
          </a:xfrm>
          <a:prstGeom prst="ellipse">
            <a:avLst/>
          </a:prstGeom>
          <a:solidFill>
            <a:srgbClr val="6CC3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400"/>
              </a:spcBef>
              <a:defRPr sz="600"/>
            </a:pPr>
          </a:p>
        </p:txBody>
      </p:sp>
      <p:grpSp>
        <p:nvGrpSpPr>
          <p:cNvPr id="211" name="WF evidence panel"/>
          <p:cNvGrpSpPr/>
          <p:nvPr/>
        </p:nvGrpSpPr>
        <p:grpSpPr>
          <a:xfrm>
            <a:off x="9628631" y="5577840"/>
            <a:ext cx="1737361" cy="292609"/>
            <a:chOff x="0" y="0"/>
            <a:chExt cx="1737360" cy="292608"/>
          </a:xfrm>
        </p:grpSpPr>
        <p:sp>
          <p:nvSpPr>
            <p:cNvPr id="209" name="Rounded Rectangle"/>
            <p:cNvSpPr/>
            <p:nvPr/>
          </p:nvSpPr>
          <p:spPr>
            <a:xfrm>
              <a:off x="0" y="0"/>
              <a:ext cx="1737361" cy="292609"/>
            </a:xfrm>
            <a:prstGeom prst="roundRect">
              <a:avLst>
                <a:gd name="adj" fmla="val 15000"/>
              </a:avLst>
            </a:prstGeom>
            <a:solidFill>
              <a:srgbClr val="0B1A4A"/>
            </a:solidFill>
            <a:ln w="12700" cap="flat">
              <a:solidFill>
                <a:schemeClr val="accent2"/>
              </a:solidFill>
              <a:prstDash val="dash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/>
              </a:pPr>
            </a:p>
          </p:txBody>
        </p:sp>
        <p:sp>
          <p:nvSpPr>
            <p:cNvPr id="210" name="Evidence &amp; explanation"/>
            <p:cNvSpPr txBox="1"/>
            <p:nvPr/>
          </p:nvSpPr>
          <p:spPr>
            <a:xfrm>
              <a:off x="37493" y="70779"/>
              <a:ext cx="1662374" cy="1510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18288" tIns="18288" rIns="18288" bIns="18288" numCol="1" anchor="ctr">
              <a:spAutoFit/>
            </a:bodyPr>
            <a:lstStyle>
              <a:lvl1pPr algn="ctr">
                <a:defRPr sz="900">
                  <a:solidFill>
                    <a:srgbClr val="FFFFFF"/>
                  </a:solidFill>
                </a:defRPr>
              </a:lvl1pPr>
            </a:lstStyle>
            <a:p>
              <a:r>
                <a:t>Evidence &amp; explanation</a:t>
              </a:r>
            </a:p>
          </p:txBody>
        </p:sp>
      </p:grp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Text 0"/>
          <p:cNvSpPr txBox="1"/>
          <p:nvPr/>
        </p:nvSpPr>
        <p:spPr>
          <a:xfrm>
            <a:off x="457199" y="1066658"/>
            <a:ext cx="11274554" cy="51844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3600" b="1" spc="20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t>FEASIBILITY AND VIABILITY</a:t>
            </a:r>
          </a:p>
        </p:txBody>
      </p:sp>
      <p:sp>
        <p:nvSpPr>
          <p:cNvPr id="214" name="Team tag"/>
          <p:cNvSpPr txBox="1"/>
          <p:nvPr/>
        </p:nvSpPr>
        <p:spPr>
          <a:xfrm>
            <a:off x="8503919" y="1178867"/>
            <a:ext cx="3227833" cy="15686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r">
              <a:defRPr sz="1200">
                <a:solidFill>
                  <a:schemeClr val="accent4"/>
                </a:solidFill>
              </a:defRPr>
            </a:lvl1pPr>
          </a:lstStyle>
          <a:p>
            <a:r>
              <a:t>TRIKΛΛL  |  Team ID:</a:t>
            </a:r>
          </a:p>
        </p:txBody>
      </p:sp>
      <p:sp>
        <p:nvSpPr>
          <p:cNvPr id="215" name="Technical Feasibility card"/>
          <p:cNvSpPr/>
          <p:nvPr/>
        </p:nvSpPr>
        <p:spPr>
          <a:xfrm>
            <a:off x="457200" y="1691639"/>
            <a:ext cx="3657600" cy="4434842"/>
          </a:xfrm>
          <a:prstGeom prst="roundRect">
            <a:avLst>
              <a:gd name="adj" fmla="val 3000"/>
            </a:avLst>
          </a:prstGeom>
          <a:solidFill>
            <a:srgbClr val="0B1A4A">
              <a:alpha val="75000"/>
            </a:srgbClr>
          </a:solidFill>
          <a:ln w="12700">
            <a:solidFill>
              <a:schemeClr val="accent1"/>
            </a:solidFill>
          </a:ln>
        </p:spPr>
        <p:txBody>
          <a:bodyPr lIns="45719" rIns="45719"/>
          <a:lstStyle/>
          <a:p/>
        </p:txBody>
      </p:sp>
      <p:sp>
        <p:nvSpPr>
          <p:cNvPr id="216" name="Technical Feasibility head"/>
          <p:cNvSpPr txBox="1"/>
          <p:nvPr/>
        </p:nvSpPr>
        <p:spPr>
          <a:xfrm>
            <a:off x="731519" y="1929706"/>
            <a:ext cx="3108962" cy="20966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500" b="1" spc="200">
                <a:solidFill>
                  <a:schemeClr val="accen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t>TECHNICAL FEASIBILITY</a:t>
            </a:r>
          </a:p>
        </p:txBody>
      </p:sp>
      <p:sp>
        <p:nvSpPr>
          <p:cNvPr id="217" name="Technical Feasibility body"/>
          <p:cNvSpPr txBox="1"/>
          <p:nvPr/>
        </p:nvSpPr>
        <p:spPr>
          <a:xfrm>
            <a:off x="731519" y="2377439"/>
            <a:ext cx="3108962" cy="306236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228600" indent="-228600">
              <a:spcBef>
                <a:spcPts val="500"/>
              </a:spcBef>
              <a:buSzPct val="100000"/>
              <a:buChar char="•"/>
              <a:defRPr sz="1300" b="1">
                <a:solidFill>
                  <a:schemeClr val="accent4"/>
                </a:solidFill>
              </a:defRPr>
            </a:pPr>
            <a:r>
              <a:t>Stack readiness: </a:t>
            </a:r>
            <a:r>
              <a:rPr b="0">
                <a:solidFill>
                  <a:srgbClr val="FFFFFF"/>
                </a:solidFill>
              </a:rPr>
              <a:t>Python, React, Tailwind CSS and SQLite are open-source and well documented</a:t>
            </a:r>
            <a:endParaRPr b="0">
              <a:solidFill>
                <a:srgbClr val="FFFFFF"/>
              </a:solidFill>
            </a:endParaRPr>
          </a:p>
          <a:p>
            <a:pPr marL="228600" indent="-228600">
              <a:spcBef>
                <a:spcPts val="500"/>
              </a:spcBef>
              <a:buSzPct val="100000"/>
              <a:buChar char="•"/>
              <a:defRPr sz="1300" b="1">
                <a:solidFill>
                  <a:schemeClr val="accent4"/>
                </a:solidFill>
              </a:defRPr>
            </a:pPr>
            <a:r>
              <a:t>Needs: </a:t>
            </a:r>
            <a:r>
              <a:rPr b="0">
                <a:solidFill>
                  <a:srgbClr val="FFFFFF"/>
                </a:solidFill>
              </a:rPr>
              <a:t>ordinary development computers, a browser and a small curated medicine dataset</a:t>
            </a:r>
            <a:endParaRPr b="0">
              <a:solidFill>
                <a:srgbClr val="FFFFFF"/>
              </a:solidFill>
            </a:endParaRPr>
          </a:p>
          <a:p>
            <a:pPr marL="228600" indent="-228600">
              <a:spcBef>
                <a:spcPts val="500"/>
              </a:spcBef>
              <a:buSzPct val="100000"/>
              <a:buChar char="•"/>
              <a:defRPr sz="1300" b="1">
                <a:solidFill>
                  <a:schemeClr val="accent4"/>
                </a:solidFill>
              </a:defRPr>
            </a:pPr>
            <a:r>
              <a:t>Start deterministic: </a:t>
            </a:r>
            <a:r>
              <a:rPr b="0">
                <a:solidFill>
                  <a:srgbClr val="FFFFFF"/>
                </a:solidFill>
              </a:rPr>
              <a:t>rule-based ingredient matching first</a:t>
            </a:r>
            <a:endParaRPr b="0">
              <a:solidFill>
                <a:srgbClr val="FFFFFF"/>
              </a:solidFill>
            </a:endParaRPr>
          </a:p>
          <a:p>
            <a:pPr marL="228600" indent="-228600">
              <a:spcBef>
                <a:spcPts val="500"/>
              </a:spcBef>
              <a:buSzPct val="100000"/>
              <a:buChar char="•"/>
              <a:defRPr sz="1300" b="1">
                <a:solidFill>
                  <a:schemeClr val="accent4"/>
                </a:solidFill>
              </a:defRPr>
            </a:pPr>
            <a:r>
              <a:t>Modular: </a:t>
            </a:r>
            <a:r>
              <a:rPr b="0">
                <a:solidFill>
                  <a:srgbClr val="FFFFFF"/>
                </a:solidFill>
              </a:rPr>
              <a:t>frontend, parser, medicine matcher and safety engine kept separate so validated records and rules can be added</a:t>
            </a:r>
            <a:endParaRPr b="0">
              <a:solidFill>
                <a:srgbClr val="FFFFFF"/>
              </a:solidFill>
            </a:endParaRPr>
          </a:p>
          <a:p>
            <a:pPr marL="228600" indent="-228600">
              <a:spcBef>
                <a:spcPts val="500"/>
              </a:spcBef>
              <a:buSzPct val="100000"/>
              <a:buChar char="•"/>
              <a:defRPr sz="1300" b="1">
                <a:solidFill>
                  <a:schemeClr val="accent4"/>
                </a:solidFill>
              </a:defRPr>
            </a:pPr>
            <a:r>
              <a:t>Quality: </a:t>
            </a:r>
            <a:r>
              <a:rPr b="0">
                <a:solidFill>
                  <a:srgbClr val="FFFFFF"/>
                </a:solidFill>
              </a:rPr>
              <a:t>automated tests and traceable rule versions</a:t>
            </a:r>
            <a:endParaRPr b="0">
              <a:solidFill>
                <a:srgbClr val="FFFFFF"/>
              </a:solidFill>
            </a:endParaRPr>
          </a:p>
        </p:txBody>
      </p:sp>
      <p:sp>
        <p:nvSpPr>
          <p:cNvPr id="218" name="Economic Feasibility card"/>
          <p:cNvSpPr/>
          <p:nvPr/>
        </p:nvSpPr>
        <p:spPr>
          <a:xfrm>
            <a:off x="4270247" y="1691639"/>
            <a:ext cx="3657601" cy="4434842"/>
          </a:xfrm>
          <a:prstGeom prst="roundRect">
            <a:avLst>
              <a:gd name="adj" fmla="val 3000"/>
            </a:avLst>
          </a:prstGeom>
          <a:solidFill>
            <a:srgbClr val="0B1A4A">
              <a:alpha val="75000"/>
            </a:srgbClr>
          </a:solidFill>
          <a:ln w="12700">
            <a:solidFill>
              <a:schemeClr val="accent1"/>
            </a:solidFill>
          </a:ln>
        </p:spPr>
        <p:txBody>
          <a:bodyPr lIns="45719" rIns="45719"/>
          <a:lstStyle/>
          <a:p/>
        </p:txBody>
      </p:sp>
      <p:sp>
        <p:nvSpPr>
          <p:cNvPr id="219" name="Economic Feasibility head"/>
          <p:cNvSpPr txBox="1"/>
          <p:nvPr/>
        </p:nvSpPr>
        <p:spPr>
          <a:xfrm>
            <a:off x="4544567" y="1929706"/>
            <a:ext cx="3108961" cy="20966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500" b="1" spc="200">
                <a:solidFill>
                  <a:schemeClr val="accen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t>ECONOMIC FEASIBILITY</a:t>
            </a:r>
          </a:p>
        </p:txBody>
      </p:sp>
      <p:sp>
        <p:nvSpPr>
          <p:cNvPr id="220" name="Economic Feasibility body"/>
          <p:cNvSpPr txBox="1"/>
          <p:nvPr/>
        </p:nvSpPr>
        <p:spPr>
          <a:xfrm>
            <a:off x="4544567" y="2377439"/>
            <a:ext cx="3108961" cy="245276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228600" indent="-228600">
              <a:spcBef>
                <a:spcPts val="500"/>
              </a:spcBef>
              <a:buSzPct val="100000"/>
              <a:buChar char="•"/>
              <a:defRPr sz="1300" b="1">
                <a:solidFill>
                  <a:schemeClr val="accent4"/>
                </a:solidFill>
              </a:defRPr>
            </a:pPr>
            <a:r>
              <a:t>Prototype: </a:t>
            </a:r>
            <a:r>
              <a:rPr b="0">
                <a:solidFill>
                  <a:srgbClr val="FFFFFF"/>
                </a:solidFill>
              </a:rPr>
              <a:t>built on existing development computers with open-source software</a:t>
            </a:r>
            <a:endParaRPr b="0">
              <a:solidFill>
                <a:srgbClr val="FFFFFF"/>
              </a:solidFill>
            </a:endParaRPr>
          </a:p>
          <a:p>
            <a:pPr marL="228600" indent="-228600">
              <a:spcBef>
                <a:spcPts val="500"/>
              </a:spcBef>
              <a:buSzPct val="100000"/>
              <a:buChar char="•"/>
              <a:defRPr sz="1300" b="1">
                <a:solidFill>
                  <a:schemeClr val="accent4"/>
                </a:solidFill>
              </a:defRPr>
            </a:pPr>
            <a:r>
              <a:t>Possible early costs: </a:t>
            </a:r>
            <a:r>
              <a:rPr b="0">
                <a:solidFill>
                  <a:srgbClr val="FFFFFF"/>
                </a:solidFill>
              </a:rPr>
              <a:t>hosting, optional model API usage, dataset review</a:t>
            </a:r>
            <a:endParaRPr b="0">
              <a:solidFill>
                <a:srgbClr val="FFFFFF"/>
              </a:solidFill>
            </a:endParaRPr>
          </a:p>
          <a:p>
            <a:pPr marL="228600" indent="-228600">
              <a:spcBef>
                <a:spcPts val="500"/>
              </a:spcBef>
              <a:buSzPct val="100000"/>
              <a:buChar char="•"/>
              <a:defRPr sz="1300" b="1">
                <a:solidFill>
                  <a:schemeClr val="accent4"/>
                </a:solidFill>
              </a:defRPr>
            </a:pPr>
            <a:r>
              <a:t>Scaling: </a:t>
            </a:r>
            <a:r>
              <a:rPr b="0">
                <a:solidFill>
                  <a:srgbClr val="FFFFFF"/>
                </a:solidFill>
              </a:rPr>
              <a:t>clinical data verification and expert review may be significant ongoing costs</a:t>
            </a:r>
            <a:endParaRPr b="0">
              <a:solidFill>
                <a:srgbClr val="FFFFFF"/>
              </a:solidFill>
            </a:endParaRPr>
          </a:p>
          <a:p>
            <a:pPr marL="228600" indent="-228600">
              <a:spcBef>
                <a:spcPts val="500"/>
              </a:spcBef>
              <a:buSzPct val="100000"/>
              <a:buChar char="•"/>
              <a:defRPr sz="1300" b="1">
                <a:solidFill>
                  <a:schemeClr val="accent4"/>
                </a:solidFill>
              </a:defRPr>
            </a:pPr>
            <a:r>
              <a:t>Funding / revenue: </a:t>
            </a:r>
            <a:r>
              <a:rPr b="0">
                <a:solidFill>
                  <a:srgbClr val="FFFFFF"/>
                </a:solidFill>
              </a:rPr>
              <a:t>academic or institutional pilots; any licensing is a proposed future direction</a:t>
            </a:r>
            <a:endParaRPr b="0">
              <a:solidFill>
                <a:srgbClr val="FFFFFF"/>
              </a:solidFill>
            </a:endParaRPr>
          </a:p>
          <a:p>
            <a:pPr>
              <a:defRPr sz="1300" i="1">
                <a:solidFill>
                  <a:schemeClr val="accent4"/>
                </a:solidFill>
              </a:defRPr>
            </a:pPr>
            <a:r>
              <a:t>No exact budget is claimed at this stage.</a:t>
            </a:r>
          </a:p>
        </p:txBody>
      </p:sp>
      <p:sp>
        <p:nvSpPr>
          <p:cNvPr id="221" name="Operational Viability card"/>
          <p:cNvSpPr/>
          <p:nvPr/>
        </p:nvSpPr>
        <p:spPr>
          <a:xfrm>
            <a:off x="8083295" y="1691639"/>
            <a:ext cx="3657601" cy="4434842"/>
          </a:xfrm>
          <a:prstGeom prst="roundRect">
            <a:avLst>
              <a:gd name="adj" fmla="val 3000"/>
            </a:avLst>
          </a:prstGeom>
          <a:solidFill>
            <a:srgbClr val="0B1A4A">
              <a:alpha val="75000"/>
            </a:srgbClr>
          </a:solidFill>
          <a:ln w="12700">
            <a:solidFill>
              <a:schemeClr val="accent1"/>
            </a:solidFill>
          </a:ln>
        </p:spPr>
        <p:txBody>
          <a:bodyPr lIns="45719" rIns="45719"/>
          <a:lstStyle/>
          <a:p/>
        </p:txBody>
      </p:sp>
      <p:sp>
        <p:nvSpPr>
          <p:cNvPr id="222" name="Operational Viability head"/>
          <p:cNvSpPr txBox="1"/>
          <p:nvPr/>
        </p:nvSpPr>
        <p:spPr>
          <a:xfrm>
            <a:off x="8357616" y="1929706"/>
            <a:ext cx="3108961" cy="20966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500" b="1" spc="200">
                <a:solidFill>
                  <a:schemeClr val="accen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t>OPERATIONAL VIABILITY</a:t>
            </a:r>
          </a:p>
        </p:txBody>
      </p:sp>
      <p:sp>
        <p:nvSpPr>
          <p:cNvPr id="223" name="Operational Viability body"/>
          <p:cNvSpPr txBox="1"/>
          <p:nvPr/>
        </p:nvSpPr>
        <p:spPr>
          <a:xfrm>
            <a:off x="8357616" y="2377439"/>
            <a:ext cx="3108961" cy="306236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228600" indent="-228600">
              <a:spcBef>
                <a:spcPts val="500"/>
              </a:spcBef>
              <a:buSzPct val="100000"/>
              <a:buChar char="•"/>
              <a:defRPr sz="1300" b="1">
                <a:solidFill>
                  <a:schemeClr val="accent4"/>
                </a:solidFill>
              </a:defRPr>
            </a:pPr>
            <a:r>
              <a:t>Setting: </a:t>
            </a:r>
            <a:r>
              <a:rPr b="0">
                <a:solidFill>
                  <a:srgbClr val="FFFFFF"/>
                </a:solidFill>
              </a:rPr>
              <a:t>demonstration or controlled medication-review workflow</a:t>
            </a:r>
            <a:endParaRPr b="0">
              <a:solidFill>
                <a:srgbClr val="FFFFFF"/>
              </a:solidFill>
            </a:endParaRPr>
          </a:p>
          <a:p>
            <a:pPr marL="228600" indent="-228600">
              <a:spcBef>
                <a:spcPts val="500"/>
              </a:spcBef>
              <a:buSzPct val="100000"/>
              <a:buChar char="•"/>
              <a:defRPr sz="1300" b="1">
                <a:solidFill>
                  <a:schemeClr val="accent4"/>
                </a:solidFill>
              </a:defRPr>
            </a:pPr>
            <a:r>
              <a:t>Needs: </a:t>
            </a:r>
            <a:r>
              <a:rPr b="0">
                <a:solidFill>
                  <a:srgbClr val="FFFFFF"/>
                </a:solidFill>
              </a:rPr>
              <a:t>verification against a pharmacist-reviewed dataset</a:t>
            </a:r>
            <a:endParaRPr b="0">
              <a:solidFill>
                <a:srgbClr val="FFFFFF"/>
              </a:solidFill>
            </a:endParaRPr>
          </a:p>
          <a:p>
            <a:pPr marL="228600" indent="-228600">
              <a:spcBef>
                <a:spcPts val="500"/>
              </a:spcBef>
              <a:buSzPct val="100000"/>
              <a:buChar char="•"/>
              <a:defRPr sz="1300" b="1">
                <a:solidFill>
                  <a:schemeClr val="accent4"/>
                </a:solidFill>
              </a:defRPr>
            </a:pPr>
            <a:r>
              <a:t>Risks: </a:t>
            </a:r>
            <a:r>
              <a:rPr b="0">
                <a:solidFill>
                  <a:srgbClr val="FFFFFF"/>
                </a:solidFill>
              </a:rPr>
              <a:t>wrong brand matches, outdated compositions, missing patient context, incomplete rules, privacy, false positives / negatives</a:t>
            </a:r>
            <a:endParaRPr b="0">
              <a:solidFill>
                <a:srgbClr val="FFFFFF"/>
              </a:solidFill>
            </a:endParaRPr>
          </a:p>
          <a:p>
            <a:pPr marL="228600" indent="-228600">
              <a:spcBef>
                <a:spcPts val="500"/>
              </a:spcBef>
              <a:buSzPct val="100000"/>
              <a:buChar char="•"/>
              <a:defRPr sz="1300" b="1">
                <a:solidFill>
                  <a:schemeClr val="accent4"/>
                </a:solidFill>
              </a:defRPr>
            </a:pPr>
            <a:r>
              <a:t>Mitigations: </a:t>
            </a:r>
            <a:r>
              <a:rPr b="0">
                <a:solidFill>
                  <a:srgbClr val="FFFFFF"/>
                </a:solidFill>
              </a:rPr>
              <a:t>evidence tracking, uncertainty flags, versioned data, testing, human professional review</a:t>
            </a:r>
            <a:endParaRPr b="0">
              <a:solidFill>
                <a:srgbClr val="FFFFFF"/>
              </a:solidFill>
            </a:endParaRPr>
          </a:p>
          <a:p>
            <a:pPr>
              <a:defRPr sz="1300" i="1">
                <a:solidFill>
                  <a:schemeClr val="accent4"/>
                </a:solidFill>
              </a:defRPr>
            </a:pPr>
            <a:r>
              <a:t>Status: prototype only. No regulatory compliance, hospital readiness or clinical validation is claimed.</a:t>
            </a:r>
          </a:p>
        </p:txBody>
      </p:sp>
      <p:sp>
        <p:nvSpPr>
          <p:cNvPr id="224" name="Slide Number Placeholder 0"/>
          <p:cNvSpPr txBox="1"/>
          <p:nvPr>
            <p:ph type="sldNum" sz="quarter" idx="4294967295"/>
          </p:nvPr>
        </p:nvSpPr>
        <p:spPr>
          <a:xfrm>
            <a:off x="11556980" y="6428232"/>
            <a:ext cx="174773" cy="226986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Text 0"/>
          <p:cNvSpPr txBox="1"/>
          <p:nvPr/>
        </p:nvSpPr>
        <p:spPr>
          <a:xfrm>
            <a:off x="457199" y="1066658"/>
            <a:ext cx="11274554" cy="51844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3600" b="1" spc="20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t>IMPACT AND BENEFITS</a:t>
            </a:r>
          </a:p>
        </p:txBody>
      </p:sp>
      <p:sp>
        <p:nvSpPr>
          <p:cNvPr id="227" name="Team tag"/>
          <p:cNvSpPr txBox="1"/>
          <p:nvPr/>
        </p:nvSpPr>
        <p:spPr>
          <a:xfrm>
            <a:off x="8503919" y="1178867"/>
            <a:ext cx="3227833" cy="15686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r">
              <a:defRPr sz="1200">
                <a:solidFill>
                  <a:schemeClr val="accent4"/>
                </a:solidFill>
              </a:defRPr>
            </a:lvl1pPr>
          </a:lstStyle>
          <a:p>
            <a:r>
              <a:t>TRIKΛΛL  |  Team ID:</a:t>
            </a:r>
          </a:p>
        </p:txBody>
      </p:sp>
      <p:sp>
        <p:nvSpPr>
          <p:cNvPr id="228" name="Social Impact card"/>
          <p:cNvSpPr/>
          <p:nvPr/>
        </p:nvSpPr>
        <p:spPr>
          <a:xfrm>
            <a:off x="457200" y="1691639"/>
            <a:ext cx="5486400" cy="2103122"/>
          </a:xfrm>
          <a:prstGeom prst="roundRect">
            <a:avLst>
              <a:gd name="adj" fmla="val 5217"/>
            </a:avLst>
          </a:prstGeom>
          <a:solidFill>
            <a:srgbClr val="0B1A4A">
              <a:alpha val="75000"/>
            </a:srgbClr>
          </a:solidFill>
          <a:ln w="12700">
            <a:solidFill>
              <a:schemeClr val="accent1"/>
            </a:solidFill>
          </a:ln>
        </p:spPr>
        <p:txBody>
          <a:bodyPr lIns="45719" rIns="45719"/>
          <a:lstStyle/>
          <a:p/>
        </p:txBody>
      </p:sp>
      <p:sp>
        <p:nvSpPr>
          <p:cNvPr id="229" name="Social Impact badge"/>
          <p:cNvSpPr/>
          <p:nvPr/>
        </p:nvSpPr>
        <p:spPr>
          <a:xfrm>
            <a:off x="731519" y="1965960"/>
            <a:ext cx="548641" cy="548641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/>
        </p:txBody>
      </p:sp>
      <p:sp>
        <p:nvSpPr>
          <p:cNvPr id="230" name="Text 4"/>
          <p:cNvSpPr txBox="1"/>
          <p:nvPr/>
        </p:nvSpPr>
        <p:spPr>
          <a:xfrm>
            <a:off x="731519" y="2110669"/>
            <a:ext cx="548641" cy="25922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t>1</a:t>
            </a:r>
          </a:p>
        </p:txBody>
      </p:sp>
      <p:sp>
        <p:nvSpPr>
          <p:cNvPr id="231" name="Social Impact head"/>
          <p:cNvSpPr txBox="1"/>
          <p:nvPr/>
        </p:nvSpPr>
        <p:spPr>
          <a:xfrm>
            <a:off x="1554480" y="2112586"/>
            <a:ext cx="4114801" cy="209668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500" b="1" spc="200">
                <a:solidFill>
                  <a:schemeClr val="accen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t>SOCIAL IMPACT</a:t>
            </a:r>
          </a:p>
        </p:txBody>
      </p:sp>
      <p:sp>
        <p:nvSpPr>
          <p:cNvPr id="232" name="Social Impact body"/>
          <p:cNvSpPr txBox="1"/>
          <p:nvPr/>
        </p:nvSpPr>
        <p:spPr>
          <a:xfrm>
            <a:off x="1554480" y="2514600"/>
            <a:ext cx="4114801" cy="108116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228600" indent="-228600">
              <a:spcBef>
                <a:spcPts val="4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Could help pharmacists and prescribers review potential ingredient overlap</a:t>
            </a:r>
          </a:p>
          <a:p>
            <a:pPr marL="228600" indent="-228600">
              <a:spcBef>
                <a:spcPts val="4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Makes prescription review more systematic and explainable</a:t>
            </a:r>
          </a:p>
          <a:p>
            <a:pPr marL="228600" indent="-228600">
              <a:spcBef>
                <a:spcPts val="4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Shows why professional verification is needed</a:t>
            </a:r>
          </a:p>
        </p:txBody>
      </p:sp>
      <p:sp>
        <p:nvSpPr>
          <p:cNvPr id="233" name="Environmental Impact card"/>
          <p:cNvSpPr/>
          <p:nvPr/>
        </p:nvSpPr>
        <p:spPr>
          <a:xfrm>
            <a:off x="6099047" y="1691639"/>
            <a:ext cx="5486401" cy="2103122"/>
          </a:xfrm>
          <a:prstGeom prst="roundRect">
            <a:avLst>
              <a:gd name="adj" fmla="val 5217"/>
            </a:avLst>
          </a:prstGeom>
          <a:solidFill>
            <a:srgbClr val="0B1A4A">
              <a:alpha val="75000"/>
            </a:srgbClr>
          </a:solidFill>
          <a:ln w="12700">
            <a:solidFill>
              <a:schemeClr val="accent1"/>
            </a:solidFill>
          </a:ln>
        </p:spPr>
        <p:txBody>
          <a:bodyPr lIns="45719" rIns="45719"/>
          <a:lstStyle/>
          <a:p/>
        </p:txBody>
      </p:sp>
      <p:sp>
        <p:nvSpPr>
          <p:cNvPr id="234" name="Environmental Impact badge"/>
          <p:cNvSpPr/>
          <p:nvPr/>
        </p:nvSpPr>
        <p:spPr>
          <a:xfrm>
            <a:off x="6373367" y="1965960"/>
            <a:ext cx="548641" cy="548641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/>
        </p:txBody>
      </p:sp>
      <p:sp>
        <p:nvSpPr>
          <p:cNvPr id="235" name="Text 9"/>
          <p:cNvSpPr txBox="1"/>
          <p:nvPr/>
        </p:nvSpPr>
        <p:spPr>
          <a:xfrm>
            <a:off x="6373367" y="2110669"/>
            <a:ext cx="548641" cy="25922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t>2</a:t>
            </a:r>
          </a:p>
        </p:txBody>
      </p:sp>
      <p:sp>
        <p:nvSpPr>
          <p:cNvPr id="236" name="Environmental Impact head"/>
          <p:cNvSpPr txBox="1"/>
          <p:nvPr/>
        </p:nvSpPr>
        <p:spPr>
          <a:xfrm>
            <a:off x="7196328" y="2112586"/>
            <a:ext cx="4114801" cy="209668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500" b="1" spc="200">
                <a:solidFill>
                  <a:schemeClr val="accen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t>ENVIRONMENTAL IMPACT</a:t>
            </a:r>
          </a:p>
        </p:txBody>
      </p:sp>
      <p:sp>
        <p:nvSpPr>
          <p:cNvPr id="237" name="Environmental Impact body"/>
          <p:cNvSpPr txBox="1"/>
          <p:nvPr/>
        </p:nvSpPr>
        <p:spPr>
          <a:xfrm>
            <a:off x="7196328" y="2514600"/>
            <a:ext cx="4114801" cy="108116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228600" indent="-228600">
              <a:spcBef>
                <a:spcPts val="4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Could support digital medication-review workflows, reducing reliance on printed review reports</a:t>
            </a:r>
          </a:p>
          <a:p>
            <a:pPr marL="228600" indent="-228600">
              <a:spcBef>
                <a:spcPts val="4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Digital records may aid information retrieval if handled responsibly</a:t>
            </a:r>
          </a:p>
          <a:p>
            <a:pPr marL="228600" indent="-228600">
              <a:spcBef>
                <a:spcPts val="4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No measured paper or carbon savings are claimed</a:t>
            </a:r>
          </a:p>
        </p:txBody>
      </p:sp>
      <p:sp>
        <p:nvSpPr>
          <p:cNvPr id="238" name="Technical Impact card"/>
          <p:cNvSpPr/>
          <p:nvPr/>
        </p:nvSpPr>
        <p:spPr>
          <a:xfrm>
            <a:off x="457200" y="3977640"/>
            <a:ext cx="5486400" cy="2103121"/>
          </a:xfrm>
          <a:prstGeom prst="roundRect">
            <a:avLst>
              <a:gd name="adj" fmla="val 5217"/>
            </a:avLst>
          </a:prstGeom>
          <a:solidFill>
            <a:srgbClr val="0B1A4A">
              <a:alpha val="75000"/>
            </a:srgbClr>
          </a:solidFill>
          <a:ln w="12700">
            <a:solidFill>
              <a:schemeClr val="accent1"/>
            </a:solidFill>
          </a:ln>
        </p:spPr>
        <p:txBody>
          <a:bodyPr lIns="45719" rIns="45719"/>
          <a:lstStyle/>
          <a:p/>
        </p:txBody>
      </p:sp>
      <p:sp>
        <p:nvSpPr>
          <p:cNvPr id="239" name="Technical Impact badge"/>
          <p:cNvSpPr/>
          <p:nvPr/>
        </p:nvSpPr>
        <p:spPr>
          <a:xfrm>
            <a:off x="731519" y="4251959"/>
            <a:ext cx="548641" cy="548641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/>
        </p:txBody>
      </p:sp>
      <p:sp>
        <p:nvSpPr>
          <p:cNvPr id="240" name="Text 14"/>
          <p:cNvSpPr txBox="1"/>
          <p:nvPr/>
        </p:nvSpPr>
        <p:spPr>
          <a:xfrm>
            <a:off x="731519" y="4396669"/>
            <a:ext cx="548641" cy="25922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t>3</a:t>
            </a:r>
          </a:p>
        </p:txBody>
      </p:sp>
      <p:sp>
        <p:nvSpPr>
          <p:cNvPr id="241" name="Technical Impact head"/>
          <p:cNvSpPr txBox="1"/>
          <p:nvPr/>
        </p:nvSpPr>
        <p:spPr>
          <a:xfrm>
            <a:off x="1554480" y="4398586"/>
            <a:ext cx="4114801" cy="209668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500" b="1" spc="200">
                <a:solidFill>
                  <a:schemeClr val="accen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t>TECHNICAL IMPACT</a:t>
            </a:r>
          </a:p>
        </p:txBody>
      </p:sp>
      <p:sp>
        <p:nvSpPr>
          <p:cNvPr id="242" name="Technical Impact body"/>
          <p:cNvSpPr txBox="1"/>
          <p:nvPr/>
        </p:nvSpPr>
        <p:spPr>
          <a:xfrm>
            <a:off x="1554480" y="4800600"/>
            <a:ext cx="4114801" cy="108116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228600" indent="-228600">
              <a:spcBef>
                <a:spcPts val="4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Brand-to-ingredient normalization for Indian brand medicines</a:t>
            </a:r>
          </a:p>
          <a:p>
            <a:pPr marL="228600" indent="-228600">
              <a:spcBef>
                <a:spcPts val="4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Transparent safety rules combined with uncertainty-aware matching</a:t>
            </a:r>
          </a:p>
          <a:p>
            <a:pPr marL="228600" indent="-228600">
              <a:spcBef>
                <a:spcPts val="4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Ingredient overlap graph and prioritized warning model</a:t>
            </a:r>
          </a:p>
        </p:txBody>
      </p:sp>
      <p:sp>
        <p:nvSpPr>
          <p:cNvPr id="243" name="Educational Impact card"/>
          <p:cNvSpPr/>
          <p:nvPr/>
        </p:nvSpPr>
        <p:spPr>
          <a:xfrm>
            <a:off x="6099047" y="3977640"/>
            <a:ext cx="5486401" cy="2103121"/>
          </a:xfrm>
          <a:prstGeom prst="roundRect">
            <a:avLst>
              <a:gd name="adj" fmla="val 5217"/>
            </a:avLst>
          </a:prstGeom>
          <a:solidFill>
            <a:srgbClr val="0B1A4A">
              <a:alpha val="75000"/>
            </a:srgbClr>
          </a:solidFill>
          <a:ln w="12700">
            <a:solidFill>
              <a:schemeClr val="accent1"/>
            </a:solidFill>
          </a:ln>
        </p:spPr>
        <p:txBody>
          <a:bodyPr lIns="45719" rIns="45719"/>
          <a:lstStyle/>
          <a:p/>
        </p:txBody>
      </p:sp>
      <p:sp>
        <p:nvSpPr>
          <p:cNvPr id="244" name="Educational Impact badge"/>
          <p:cNvSpPr/>
          <p:nvPr/>
        </p:nvSpPr>
        <p:spPr>
          <a:xfrm>
            <a:off x="6373367" y="4251959"/>
            <a:ext cx="548641" cy="548641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/>
        </p:txBody>
      </p:sp>
      <p:sp>
        <p:nvSpPr>
          <p:cNvPr id="245" name="Text 19"/>
          <p:cNvSpPr txBox="1"/>
          <p:nvPr/>
        </p:nvSpPr>
        <p:spPr>
          <a:xfrm>
            <a:off x="6373367" y="4396669"/>
            <a:ext cx="548641" cy="25922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t>4</a:t>
            </a:r>
          </a:p>
        </p:txBody>
      </p:sp>
      <p:sp>
        <p:nvSpPr>
          <p:cNvPr id="246" name="Educational Impact head"/>
          <p:cNvSpPr txBox="1"/>
          <p:nvPr/>
        </p:nvSpPr>
        <p:spPr>
          <a:xfrm>
            <a:off x="7196328" y="4398586"/>
            <a:ext cx="4114801" cy="209668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500" b="1" spc="200">
                <a:solidFill>
                  <a:schemeClr val="accen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t>EDUCATIONAL IMPACT</a:t>
            </a:r>
          </a:p>
        </p:txBody>
      </p:sp>
      <p:sp>
        <p:nvSpPr>
          <p:cNvPr id="247" name="Educational Impact body"/>
          <p:cNvSpPr txBox="1"/>
          <p:nvPr/>
        </p:nvSpPr>
        <p:spPr>
          <a:xfrm>
            <a:off x="7196328" y="4800600"/>
            <a:ext cx="4114801" cy="108116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228600" indent="-228600">
              <a:spcBef>
                <a:spcPts val="4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Helps students learn active-ingredient relationships</a:t>
            </a:r>
          </a:p>
          <a:p>
            <a:pPr marL="228600" indent="-228600">
              <a:spcBef>
                <a:spcPts val="4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Reproducible test environment for medication-safety scenarios</a:t>
            </a:r>
          </a:p>
          <a:p>
            <a:pPr marL="228600" indent="-228600">
              <a:spcBef>
                <a:spcPts val="4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Encourages evidence-based rule review and responsible AI development</a:t>
            </a:r>
          </a:p>
        </p:txBody>
      </p:sp>
      <p:sp>
        <p:nvSpPr>
          <p:cNvPr id="248" name="Slide Number Placeholder 0"/>
          <p:cNvSpPr txBox="1"/>
          <p:nvPr>
            <p:ph type="sldNum" sz="quarter" idx="4294967295"/>
          </p:nvPr>
        </p:nvSpPr>
        <p:spPr>
          <a:xfrm>
            <a:off x="11556980" y="6428232"/>
            <a:ext cx="174773" cy="226986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Text 0"/>
          <p:cNvSpPr txBox="1"/>
          <p:nvPr/>
        </p:nvSpPr>
        <p:spPr>
          <a:xfrm>
            <a:off x="457199" y="1066658"/>
            <a:ext cx="11274554" cy="51844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3600" b="1" spc="20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t>BUSINESS MODEL &amp; SUSTAINABILITY</a:t>
            </a:r>
          </a:p>
        </p:txBody>
      </p:sp>
      <p:sp>
        <p:nvSpPr>
          <p:cNvPr id="251" name="Team tag"/>
          <p:cNvSpPr txBox="1"/>
          <p:nvPr/>
        </p:nvSpPr>
        <p:spPr>
          <a:xfrm>
            <a:off x="8503919" y="1178867"/>
            <a:ext cx="3227833" cy="15686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r">
              <a:defRPr sz="1200">
                <a:solidFill>
                  <a:schemeClr val="accent4"/>
                </a:solidFill>
              </a:defRPr>
            </a:lvl1pPr>
          </a:lstStyle>
          <a:p>
            <a:r>
              <a:t>TRIKΛΛL  |  Team ID:</a:t>
            </a:r>
          </a:p>
        </p:txBody>
      </p:sp>
      <p:sp>
        <p:nvSpPr>
          <p:cNvPr id="252" name="Users card"/>
          <p:cNvSpPr/>
          <p:nvPr/>
        </p:nvSpPr>
        <p:spPr>
          <a:xfrm>
            <a:off x="457200" y="1691639"/>
            <a:ext cx="3657600" cy="4434842"/>
          </a:xfrm>
          <a:prstGeom prst="roundRect">
            <a:avLst>
              <a:gd name="adj" fmla="val 3000"/>
            </a:avLst>
          </a:prstGeom>
          <a:solidFill>
            <a:srgbClr val="0B1A4A">
              <a:alpha val="75000"/>
            </a:srgbClr>
          </a:solidFill>
          <a:ln w="12700">
            <a:solidFill>
              <a:schemeClr val="accent1"/>
            </a:solidFill>
          </a:ln>
        </p:spPr>
        <p:txBody>
          <a:bodyPr lIns="45719" rIns="45719"/>
          <a:lstStyle/>
          <a:p/>
        </p:txBody>
      </p:sp>
      <p:sp>
        <p:nvSpPr>
          <p:cNvPr id="253" name="Users head"/>
          <p:cNvSpPr txBox="1"/>
          <p:nvPr/>
        </p:nvSpPr>
        <p:spPr>
          <a:xfrm>
            <a:off x="731519" y="1929706"/>
            <a:ext cx="3108962" cy="20966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500" b="1" spc="200">
                <a:solidFill>
                  <a:schemeClr val="accen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t>TARGET USERS</a:t>
            </a:r>
          </a:p>
        </p:txBody>
      </p:sp>
      <p:sp>
        <p:nvSpPr>
          <p:cNvPr id="254" name="Users body"/>
          <p:cNvSpPr txBox="1"/>
          <p:nvPr/>
        </p:nvSpPr>
        <p:spPr>
          <a:xfrm>
            <a:off x="731519" y="2377439"/>
            <a:ext cx="3108962" cy="260516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228600" indent="-228600">
              <a:spcBef>
                <a:spcPts val="4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Community and hospital pharmacists</a:t>
            </a:r>
          </a:p>
          <a:p>
            <a:pPr marL="228600" indent="-228600">
              <a:spcBef>
                <a:spcPts val="4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Clinics and healthcare institutions</a:t>
            </a:r>
          </a:p>
          <a:p>
            <a:pPr marL="228600" indent="-228600">
              <a:spcBef>
                <a:spcPts val="4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Prescription-review teams</a:t>
            </a:r>
          </a:p>
          <a:p>
            <a:pPr marL="228600" indent="-228600">
              <a:spcBef>
                <a:spcPts val="8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Potential healthcare software partners</a:t>
            </a:r>
          </a:p>
          <a:p>
            <a:pPr>
              <a:spcBef>
                <a:spcPts val="400"/>
              </a:spcBef>
              <a:defRPr sz="1300" b="1">
                <a:solidFill>
                  <a:schemeClr val="accent4"/>
                </a:solidFill>
              </a:defRPr>
            </a:pPr>
            <a:r>
              <a:t>Potential partners (none exist yet)</a:t>
            </a:r>
          </a:p>
          <a:p>
            <a:pPr marL="228600" indent="-228600">
              <a:spcBef>
                <a:spcPts val="4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Pharmacy colleges and students: supervised test-case development</a:t>
            </a:r>
          </a:p>
          <a:p>
            <a:pPr marL="228600" indent="-228600">
              <a:spcBef>
                <a:spcPts val="4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Pharmacists and clinical reviewers: rule verification</a:t>
            </a:r>
          </a:p>
          <a:p>
            <a:pPr marL="228600" indent="-228600">
              <a:spcBef>
                <a:spcPts val="4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Healthcare software providers: future integration</a:t>
            </a:r>
          </a:p>
        </p:txBody>
      </p:sp>
      <p:sp>
        <p:nvSpPr>
          <p:cNvPr id="255" name="Revenue card"/>
          <p:cNvSpPr/>
          <p:nvPr/>
        </p:nvSpPr>
        <p:spPr>
          <a:xfrm>
            <a:off x="4270247" y="1691639"/>
            <a:ext cx="3657601" cy="4434842"/>
          </a:xfrm>
          <a:prstGeom prst="roundRect">
            <a:avLst>
              <a:gd name="adj" fmla="val 3000"/>
            </a:avLst>
          </a:prstGeom>
          <a:solidFill>
            <a:srgbClr val="0B1A4A">
              <a:alpha val="75000"/>
            </a:srgbClr>
          </a:solidFill>
          <a:ln w="12700">
            <a:solidFill>
              <a:schemeClr val="accent1"/>
            </a:solidFill>
          </a:ln>
        </p:spPr>
        <p:txBody>
          <a:bodyPr lIns="45719" rIns="45719"/>
          <a:lstStyle/>
          <a:p/>
        </p:txBody>
      </p:sp>
      <p:sp>
        <p:nvSpPr>
          <p:cNvPr id="256" name="Rev head"/>
          <p:cNvSpPr txBox="1"/>
          <p:nvPr/>
        </p:nvSpPr>
        <p:spPr>
          <a:xfrm>
            <a:off x="4544567" y="1929706"/>
            <a:ext cx="3108961" cy="20966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500" b="1" spc="200">
                <a:solidFill>
                  <a:schemeClr val="accen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t>REVENUE &amp; COST MODEL</a:t>
            </a:r>
          </a:p>
        </p:txBody>
      </p:sp>
      <p:sp>
        <p:nvSpPr>
          <p:cNvPr id="257" name="Rev body"/>
          <p:cNvSpPr txBox="1"/>
          <p:nvPr/>
        </p:nvSpPr>
        <p:spPr>
          <a:xfrm>
            <a:off x="4544567" y="2377439"/>
            <a:ext cx="3108961" cy="245276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spcBef>
                <a:spcPts val="500"/>
              </a:spcBef>
              <a:defRPr sz="1300" b="1" i="1">
                <a:solidFill>
                  <a:schemeClr val="accent4"/>
                </a:solidFill>
              </a:defRPr>
            </a:pPr>
            <a:r>
              <a:t>Proposed future direction</a:t>
            </a:r>
          </a:p>
          <a:p>
            <a:pPr marL="228600" indent="-228600">
              <a:spcBef>
                <a:spcPts val="500"/>
              </a:spcBef>
              <a:buSzPct val="100000"/>
              <a:buChar char="•"/>
              <a:defRPr sz="1300" b="1">
                <a:solidFill>
                  <a:schemeClr val="accent4"/>
                </a:solidFill>
              </a:defRPr>
            </a:pPr>
            <a:r>
              <a:t>Prototype phase: </a:t>
            </a:r>
            <a:r>
              <a:rPr b="0">
                <a:solidFill>
                  <a:srgbClr val="FFFFFF"/>
                </a:solidFill>
              </a:rPr>
              <a:t>controlled demonstrations and academic evaluation</a:t>
            </a:r>
            <a:endParaRPr b="0">
              <a:solidFill>
                <a:srgbClr val="FFFFFF"/>
              </a:solidFill>
            </a:endParaRPr>
          </a:p>
          <a:p>
            <a:pPr marL="228600" indent="-228600">
              <a:spcBef>
                <a:spcPts val="500"/>
              </a:spcBef>
              <a:buSzPct val="100000"/>
              <a:buChar char="•"/>
              <a:defRPr sz="1300" b="1">
                <a:solidFill>
                  <a:schemeClr val="accent4"/>
                </a:solidFill>
              </a:defRPr>
            </a:pPr>
            <a:r>
              <a:t>Possible model: </a:t>
            </a:r>
            <a:r>
              <a:rPr b="0">
                <a:solidFill>
                  <a:srgbClr val="FFFFFF"/>
                </a:solidFill>
              </a:rPr>
              <a:t>institutional SaaS licensing or paid integration, subject to validation and applicable requirements</a:t>
            </a:r>
            <a:endParaRPr b="0">
              <a:solidFill>
                <a:srgbClr val="FFFFFF"/>
              </a:solidFill>
            </a:endParaRPr>
          </a:p>
          <a:p>
            <a:pPr marL="228600" indent="-228600">
              <a:spcBef>
                <a:spcPts val="500"/>
              </a:spcBef>
              <a:buSzPct val="100000"/>
              <a:buChar char="•"/>
              <a:defRPr sz="1300" b="1">
                <a:solidFill>
                  <a:schemeClr val="accent4"/>
                </a:solidFill>
              </a:defRPr>
            </a:pPr>
            <a:r>
              <a:t>Potential customers: </a:t>
            </a:r>
            <a:r>
              <a:rPr b="0">
                <a:solidFill>
                  <a:srgbClr val="FFFFFF"/>
                </a:solidFill>
              </a:rPr>
              <a:t>clinics, pharmacies, healthcare software organizations</a:t>
            </a:r>
            <a:endParaRPr b="0">
              <a:solidFill>
                <a:srgbClr val="FFFFFF"/>
              </a:solidFill>
            </a:endParaRPr>
          </a:p>
          <a:p>
            <a:pPr marL="228600" indent="-228600">
              <a:spcBef>
                <a:spcPts val="500"/>
              </a:spcBef>
              <a:buSzPct val="100000"/>
              <a:buChar char="•"/>
              <a:defRPr sz="1300" b="1">
                <a:solidFill>
                  <a:schemeClr val="accent4"/>
                </a:solidFill>
              </a:defRPr>
            </a:pPr>
            <a:r>
              <a:t>Cost drivers: </a:t>
            </a:r>
            <a:r>
              <a:rPr b="0">
                <a:solidFill>
                  <a:srgbClr val="FFFFFF"/>
                </a:solidFill>
              </a:rPr>
              <a:t>verified medicine data, clinical review, maintenance, secure infrastructure, integration</a:t>
            </a:r>
            <a:endParaRPr b="0">
              <a:solidFill>
                <a:srgbClr val="FFFFFF"/>
              </a:solidFill>
            </a:endParaRPr>
          </a:p>
        </p:txBody>
      </p:sp>
      <p:sp>
        <p:nvSpPr>
          <p:cNvPr id="258" name="Sustain card"/>
          <p:cNvSpPr/>
          <p:nvPr/>
        </p:nvSpPr>
        <p:spPr>
          <a:xfrm>
            <a:off x="8074152" y="1691639"/>
            <a:ext cx="3657601" cy="4434842"/>
          </a:xfrm>
          <a:prstGeom prst="roundRect">
            <a:avLst>
              <a:gd name="adj" fmla="val 3000"/>
            </a:avLst>
          </a:prstGeom>
          <a:solidFill>
            <a:srgbClr val="0B1A4A">
              <a:alpha val="75000"/>
            </a:srgbClr>
          </a:solidFill>
          <a:ln w="12700">
            <a:solidFill>
              <a:schemeClr val="accent1"/>
            </a:solidFill>
          </a:ln>
        </p:spPr>
        <p:txBody>
          <a:bodyPr lIns="45719" rIns="45719"/>
          <a:lstStyle/>
          <a:p/>
        </p:txBody>
      </p:sp>
      <p:sp>
        <p:nvSpPr>
          <p:cNvPr id="259" name="Sus head"/>
          <p:cNvSpPr txBox="1"/>
          <p:nvPr/>
        </p:nvSpPr>
        <p:spPr>
          <a:xfrm>
            <a:off x="8348471" y="1929706"/>
            <a:ext cx="3108961" cy="20966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500" b="1" spc="200">
                <a:solidFill>
                  <a:schemeClr val="accen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t>SUSTAINABILITY</a:t>
            </a:r>
          </a:p>
        </p:txBody>
      </p:sp>
      <p:sp>
        <p:nvSpPr>
          <p:cNvPr id="260" name="Sus body"/>
          <p:cNvSpPr txBox="1"/>
          <p:nvPr/>
        </p:nvSpPr>
        <p:spPr>
          <a:xfrm>
            <a:off x="8348471" y="2377439"/>
            <a:ext cx="3108961" cy="235116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228600" indent="-228600">
              <a:spcBef>
                <a:spcPts val="5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Maintainable, versioned medicine records</a:t>
            </a:r>
          </a:p>
          <a:p>
            <a:pPr marL="228600" indent="-228600">
              <a:spcBef>
                <a:spcPts val="5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Periodic review of drug-composition data and clinical rules</a:t>
            </a:r>
          </a:p>
          <a:p>
            <a:pPr marL="228600" indent="-228600">
              <a:spcBef>
                <a:spcPts val="5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Modular architecture for expansion</a:t>
            </a:r>
          </a:p>
          <a:p>
            <a:pPr marL="228600" indent="-228600">
              <a:spcBef>
                <a:spcPts val="5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Possible future integration with appropriate healthcare systems</a:t>
            </a:r>
          </a:p>
          <a:p>
            <a:pPr marL="228600" indent="-228600">
              <a:spcBef>
                <a:spcPts val="800"/>
              </a:spcBef>
              <a:buSzPct val="100000"/>
              <a:buChar char="•"/>
              <a:defRPr sz="1300">
                <a:solidFill>
                  <a:srgbClr val="FFFFFF"/>
                </a:solidFill>
              </a:defRPr>
            </a:pPr>
            <a:r>
              <a:t>Open-source educational test suite, if licensing and data permissions allow</a:t>
            </a:r>
          </a:p>
          <a:p>
            <a:pPr>
              <a:defRPr sz="1300" i="1">
                <a:solidFill>
                  <a:schemeClr val="accent4"/>
                </a:solidFill>
              </a:defRPr>
            </a:pPr>
            <a:r>
              <a:t>No pricing, revenue forecast, partnership or customer commitment exists.</a:t>
            </a:r>
          </a:p>
        </p:txBody>
      </p:sp>
      <p:sp>
        <p:nvSpPr>
          <p:cNvPr id="261" name="Slide Number Placeholder 0"/>
          <p:cNvSpPr txBox="1"/>
          <p:nvPr>
            <p:ph type="sldNum" sz="quarter" idx="4294967295"/>
          </p:nvPr>
        </p:nvSpPr>
        <p:spPr>
          <a:xfrm>
            <a:off x="11556980" y="6428232"/>
            <a:ext cx="174773" cy="226986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Text 0"/>
          <p:cNvSpPr txBox="1"/>
          <p:nvPr/>
        </p:nvSpPr>
        <p:spPr>
          <a:xfrm>
            <a:off x="457199" y="1066658"/>
            <a:ext cx="11274554" cy="51844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3600" b="1" spc="20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t>RESEARCH AND REFERENCES</a:t>
            </a:r>
          </a:p>
        </p:txBody>
      </p:sp>
      <p:sp>
        <p:nvSpPr>
          <p:cNvPr id="264" name="Team tag"/>
          <p:cNvSpPr txBox="1"/>
          <p:nvPr/>
        </p:nvSpPr>
        <p:spPr>
          <a:xfrm>
            <a:off x="8503919" y="1178867"/>
            <a:ext cx="3227833" cy="15686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r">
              <a:defRPr sz="1200">
                <a:solidFill>
                  <a:schemeClr val="accent4"/>
                </a:solidFill>
              </a:defRPr>
            </a:lvl1pPr>
          </a:lstStyle>
          <a:p>
            <a:r>
              <a:t>TRIKΛΛL  |  Team ID:</a:t>
            </a:r>
          </a:p>
        </p:txBody>
      </p:sp>
      <p:sp>
        <p:nvSpPr>
          <p:cNvPr id="265" name="References card"/>
          <p:cNvSpPr/>
          <p:nvPr/>
        </p:nvSpPr>
        <p:spPr>
          <a:xfrm>
            <a:off x="457200" y="1691639"/>
            <a:ext cx="11274553" cy="4434842"/>
          </a:xfrm>
          <a:prstGeom prst="roundRect">
            <a:avLst>
              <a:gd name="adj" fmla="val 2474"/>
            </a:avLst>
          </a:prstGeom>
          <a:solidFill>
            <a:srgbClr val="0B1A4A">
              <a:alpha val="75000"/>
            </a:srgbClr>
          </a:solidFill>
          <a:ln w="12700">
            <a:solidFill>
              <a:schemeClr val="accent1"/>
            </a:solidFill>
          </a:ln>
        </p:spPr>
        <p:txBody>
          <a:bodyPr lIns="45719" rIns="45719"/>
          <a:lstStyle/>
          <a:p/>
        </p:txBody>
      </p:sp>
      <p:sp>
        <p:nvSpPr>
          <p:cNvPr id="266" name="Ref head"/>
          <p:cNvSpPr txBox="1"/>
          <p:nvPr/>
        </p:nvSpPr>
        <p:spPr>
          <a:xfrm>
            <a:off x="731519" y="1929706"/>
            <a:ext cx="10515601" cy="20966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500" b="1" spc="200">
                <a:solidFill>
                  <a:schemeClr val="accen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t>KEY TECH &amp; RESEARCH SOURCES</a:t>
            </a:r>
          </a:p>
        </p:txBody>
      </p:sp>
      <p:sp>
        <p:nvSpPr>
          <p:cNvPr id="267" name="Ref body"/>
          <p:cNvSpPr txBox="1"/>
          <p:nvPr/>
        </p:nvSpPr>
        <p:spPr>
          <a:xfrm>
            <a:off x="731519" y="2377439"/>
            <a:ext cx="5166362" cy="301436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 sz="1300" b="1">
                <a:solidFill>
                  <a:schemeClr val="accent4"/>
                </a:solidFill>
              </a:defRPr>
            </a:pPr>
            <a:r>
              <a:t>Technology / standard used and its source</a:t>
            </a:r>
          </a:p>
          <a:p>
            <a:pPr marL="228600" indent="-228600">
              <a:spcBef>
                <a:spcPts val="400"/>
              </a:spcBef>
              <a:buSzPct val="100000"/>
              <a:buChar char="•"/>
              <a:defRPr sz="1200">
                <a:solidFill>
                  <a:srgbClr val="FFFFFF"/>
                </a:solidFill>
              </a:defRPr>
            </a:pPr>
            <a:r>
              <a:t>RxNorm (US National Library of Medicine): ingredient + strength + dose-form naming model that informs our normalization design. US-focused, not a source for Indian brands. </a:t>
            </a:r>
            <a:r>
              <a:rPr u="sng">
                <a:solidFill>
                  <a:schemeClr val="accent2"/>
                </a:solidFill>
                <a:uFill>
                  <a:solidFill>
                    <a:schemeClr val="accent2"/>
                  </a:solidFill>
                </a:uFill>
              </a:rPr>
              <a:t>nlm.nih.gov/research/umls/rxnorm</a:t>
            </a:r>
            <a:endParaRPr u="sng">
              <a:solidFill>
                <a:schemeClr val="accent2"/>
              </a:solidFill>
              <a:uFill>
                <a:solidFill>
                  <a:schemeClr val="accent2"/>
                </a:solidFill>
              </a:uFill>
            </a:endParaRPr>
          </a:p>
          <a:p>
            <a:pPr marL="228600" indent="-228600">
              <a:spcBef>
                <a:spcPts val="800"/>
              </a:spcBef>
              <a:buSzPct val="100000"/>
              <a:buChar char="•"/>
              <a:defRPr sz="1200">
                <a:solidFill>
                  <a:srgbClr val="FFFFFF"/>
                </a:solidFill>
              </a:defRPr>
            </a:pPr>
            <a:r>
              <a:t>CDSCO (India’s drug regulator): official regulatory information to be cross-checked by pharmacists; no guarantee of complete brand coverage. </a:t>
            </a:r>
            <a:r>
              <a:rPr u="sng">
                <a:solidFill>
                  <a:schemeClr val="accent2"/>
                </a:solidFill>
                <a:uFill>
                  <a:solidFill>
                    <a:schemeClr val="accent2"/>
                  </a:solidFill>
                </a:uFill>
              </a:rPr>
              <a:t>cdsco.gov.in</a:t>
            </a:r>
            <a:endParaRPr u="sng">
              <a:solidFill>
                <a:schemeClr val="accent2"/>
              </a:solidFill>
              <a:uFill>
                <a:solidFill>
                  <a:schemeClr val="accent2"/>
                </a:solidFill>
              </a:uFill>
            </a:endParaRPr>
          </a:p>
          <a:p>
            <a:pPr>
              <a:spcBef>
                <a:spcPts val="400"/>
              </a:spcBef>
              <a:defRPr sz="1300" b="1">
                <a:solidFill>
                  <a:schemeClr val="accent4"/>
                </a:solidFill>
              </a:defRPr>
            </a:pPr>
            <a:r>
              <a:t>Research paper, report or case study</a:t>
            </a:r>
          </a:p>
          <a:p>
            <a:pPr marL="228600" indent="-228600">
              <a:spcBef>
                <a:spcPts val="400"/>
              </a:spcBef>
              <a:buSzPct val="100000"/>
              <a:buChar char="•"/>
              <a:defRPr sz="1200">
                <a:solidFill>
                  <a:srgbClr val="FFFFFF"/>
                </a:solidFill>
              </a:defRPr>
            </a:pPr>
            <a:r>
              <a:t>WHO (2017): Medication Without Harm, Global Patient Safety Challenge. </a:t>
            </a:r>
            <a:r>
              <a:rPr u="sng">
                <a:solidFill>
                  <a:schemeClr val="accent2"/>
                </a:solidFill>
                <a:uFill>
                  <a:solidFill>
                    <a:schemeClr val="accent2"/>
                  </a:solidFill>
                </a:uFill>
              </a:rPr>
              <a:t>who.int</a:t>
            </a:r>
            <a:endParaRPr u="sng">
              <a:solidFill>
                <a:schemeClr val="accent2"/>
              </a:solidFill>
              <a:uFill>
                <a:solidFill>
                  <a:schemeClr val="accent2"/>
                </a:solidFill>
              </a:uFill>
            </a:endParaRPr>
          </a:p>
          <a:p>
            <a:pPr marL="228600" indent="-228600">
              <a:spcBef>
                <a:spcPts val="400"/>
              </a:spcBef>
              <a:buSzPct val="100000"/>
              <a:buChar char="•"/>
              <a:defRPr sz="1200">
                <a:solidFill>
                  <a:srgbClr val="FFFFFF"/>
                </a:solidFill>
              </a:defRPr>
            </a:pPr>
            <a:r>
              <a:t>Hussain, Reynolds &amp; Zheng (2019), JAMIA 26(10):1141–9: reducing medication-safety alert fatigue. </a:t>
            </a:r>
            <a:r>
              <a:rPr u="sng">
                <a:solidFill>
                  <a:schemeClr val="accent2"/>
                </a:solidFill>
                <a:uFill>
                  <a:solidFill>
                    <a:schemeClr val="accent2"/>
                  </a:solidFill>
                </a:uFill>
              </a:rPr>
              <a:t>doi.org/10.1093/jamia/ocz095</a:t>
            </a:r>
            <a:endParaRPr u="sng">
              <a:solidFill>
                <a:schemeClr val="accent2"/>
              </a:solidFill>
              <a:uFill>
                <a:solidFill>
                  <a:schemeClr val="accent2"/>
                </a:solidFill>
              </a:uFill>
            </a:endParaRPr>
          </a:p>
          <a:p>
            <a:pPr marL="228600" indent="-228600">
              <a:buSzPct val="100000"/>
              <a:buChar char="•"/>
              <a:defRPr sz="1200">
                <a:solidFill>
                  <a:srgbClr val="FFFFFF"/>
                </a:solidFill>
              </a:defRPr>
            </a:pPr>
            <a:r>
              <a:t>Villa Zapata et al. (2022), Stud Health Technol Inform 290:380–4: overriding drug-drug interaction alerts. </a:t>
            </a:r>
            <a:r>
              <a:rPr u="sng">
                <a:solidFill>
                  <a:schemeClr val="accent2"/>
                </a:solidFill>
                <a:uFill>
                  <a:solidFill>
                    <a:schemeClr val="accent2"/>
                  </a:solidFill>
                </a:uFill>
              </a:rPr>
              <a:t>doi.org/10.3233/SHTI220101</a:t>
            </a:r>
            <a:endParaRPr u="sng">
              <a:solidFill>
                <a:schemeClr val="accent2"/>
              </a:solidFill>
              <a:uFill>
                <a:solidFill>
                  <a:schemeClr val="accent2"/>
                </a:solidFill>
              </a:uFill>
            </a:endParaRPr>
          </a:p>
        </p:txBody>
      </p:sp>
      <p:sp>
        <p:nvSpPr>
          <p:cNvPr id="268" name="Slide Number Placeholder 0"/>
          <p:cNvSpPr txBox="1"/>
          <p:nvPr>
            <p:ph type="sldNum" sz="quarter" idx="4294967295"/>
          </p:nvPr>
        </p:nvSpPr>
        <p:spPr>
          <a:xfrm>
            <a:off x="11556980" y="6428232"/>
            <a:ext cx="174773" cy="226986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269" name="Ref body right"/>
          <p:cNvSpPr txBox="1"/>
          <p:nvPr/>
        </p:nvSpPr>
        <p:spPr>
          <a:xfrm>
            <a:off x="6263640" y="2377439"/>
            <a:ext cx="5166361" cy="239206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 sz="1300" b="1">
                <a:solidFill>
                  <a:schemeClr val="accent4"/>
                </a:solidFill>
              </a:defRPr>
            </a:pPr>
            <a:r>
              <a:t>Existing solutions studied</a:t>
            </a:r>
          </a:p>
          <a:p>
            <a:pPr marL="228600" indent="-228600">
              <a:spcBef>
                <a:spcPts val="400"/>
              </a:spcBef>
              <a:buSzPct val="100000"/>
              <a:buChar char="•"/>
              <a:defRPr sz="1200">
                <a:solidFill>
                  <a:srgbClr val="FFFFFF"/>
                </a:solidFill>
              </a:defRPr>
            </a:pPr>
            <a:r>
              <a:t>DrugBank Clinical API: documented drug-drug interaction checker covering drug ingredients and drug categories. </a:t>
            </a:r>
            <a:r>
              <a:rPr u="sng">
                <a:solidFill>
                  <a:schemeClr val="accent2"/>
                </a:solidFill>
                <a:uFill>
                  <a:solidFill>
                    <a:schemeClr val="accent2"/>
                  </a:solidFill>
                </a:uFill>
              </a:rPr>
              <a:t>dev.drugbank.com/guides/implementation/ddi_checker</a:t>
            </a:r>
            <a:endParaRPr u="sng">
              <a:solidFill>
                <a:schemeClr val="accent2"/>
              </a:solidFill>
              <a:uFill>
                <a:solidFill>
                  <a:schemeClr val="accent2"/>
                </a:solidFill>
              </a:uFill>
            </a:endParaRPr>
          </a:p>
          <a:p>
            <a:pPr marL="228600" indent="-228600">
              <a:spcBef>
                <a:spcPts val="400"/>
              </a:spcBef>
              <a:buSzPct val="100000"/>
              <a:buChar char="•"/>
              <a:defRPr sz="1200">
                <a:solidFill>
                  <a:srgbClr val="FFFFFF"/>
                </a:solidFill>
              </a:defRPr>
            </a:pPr>
            <a:r>
              <a:t>Drugs.com Interaction Checker: widely used web tool for interaction lookup. </a:t>
            </a:r>
            <a:r>
              <a:rPr u="sng">
                <a:solidFill>
                  <a:schemeClr val="accent2"/>
                </a:solidFill>
                <a:uFill>
                  <a:solidFill>
                    <a:schemeClr val="accent2"/>
                  </a:solidFill>
                </a:uFill>
              </a:rPr>
              <a:t>drugs.com</a:t>
            </a:r>
            <a:endParaRPr u="sng">
              <a:solidFill>
                <a:schemeClr val="accent2"/>
              </a:solidFill>
              <a:uFill>
                <a:solidFill>
                  <a:schemeClr val="accent2"/>
                </a:solidFill>
              </a:uFill>
            </a:endParaRPr>
          </a:p>
          <a:p>
            <a:pPr marL="228600" indent="-228600">
              <a:spcBef>
                <a:spcPts val="800"/>
              </a:spcBef>
              <a:buSzPct val="100000"/>
              <a:buChar char="•"/>
              <a:defRPr sz="1200" i="1">
                <a:solidFill>
                  <a:schemeClr val="accent4"/>
                </a:solidFill>
              </a:defRPr>
            </a:pPr>
            <a:r>
              <a:t>AushNexa’s proposed scope: Indian-brand normalization, uncertainty handling and a reproducible test suite. We do not claim these tools lack such features.</a:t>
            </a:r>
          </a:p>
          <a:p>
            <a:pPr>
              <a:spcBef>
                <a:spcPts val="400"/>
              </a:spcBef>
              <a:defRPr sz="1300" b="1">
                <a:solidFill>
                  <a:schemeClr val="accent4"/>
                </a:solidFill>
              </a:defRPr>
            </a:pPr>
            <a:r>
              <a:t>Documentation and links</a:t>
            </a:r>
          </a:p>
          <a:p>
            <a:pPr marL="228600" indent="-228600">
              <a:buSzPct val="100000"/>
              <a:buChar char="•"/>
              <a:defRPr sz="1200">
                <a:solidFill>
                  <a:srgbClr val="FFFFFF"/>
                </a:solidFill>
              </a:defRPr>
            </a:pPr>
            <a:r>
              <a:t>Python </a:t>
            </a:r>
            <a:r>
              <a:rPr u="sng">
                <a:solidFill>
                  <a:schemeClr val="accent2"/>
                </a:solidFill>
                <a:uFill>
                  <a:solidFill>
                    <a:schemeClr val="accent2"/>
                  </a:solidFill>
                </a:uFill>
              </a:rPr>
              <a:t>docs.python.org</a:t>
            </a:r>
            <a:r>
              <a:t>  ·  React </a:t>
            </a:r>
            <a:r>
              <a:rPr u="sng">
                <a:solidFill>
                  <a:schemeClr val="accent2"/>
                </a:solidFill>
                <a:uFill>
                  <a:solidFill>
                    <a:schemeClr val="accent2"/>
                  </a:solidFill>
                </a:uFill>
              </a:rPr>
              <a:t>react.dev</a:t>
            </a:r>
            <a:r>
              <a:t>  ·  Tailwind CSS </a:t>
            </a:r>
            <a:r>
              <a:rPr u="sng">
                <a:solidFill>
                  <a:schemeClr val="accent2"/>
                </a:solidFill>
                <a:uFill>
                  <a:solidFill>
                    <a:schemeClr val="accent2"/>
                  </a:solidFill>
                </a:uFill>
              </a:rPr>
              <a:t>tailwindcss.com/docs</a:t>
            </a:r>
            <a:r>
              <a:t>  ·  SQLite </a:t>
            </a:r>
            <a:r>
              <a:rPr u="sng">
                <a:solidFill>
                  <a:schemeClr val="accent2"/>
                </a:solidFill>
                <a:uFill>
                  <a:solidFill>
                    <a:schemeClr val="accent2"/>
                  </a:solidFill>
                </a:uFill>
              </a:rPr>
              <a:t>sqlite.org/docs.html</a:t>
            </a:r>
            <a:endParaRPr u="sng">
              <a:solidFill>
                <a:schemeClr val="accent2"/>
              </a:solidFill>
              <a:uFill>
                <a:solidFill>
                  <a:schemeClr val="accent2"/>
                </a:solidFill>
              </a:uFill>
            </a:endParaRP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Image 0" descr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4754880" cy="216377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72" name="Text 0"/>
          <p:cNvSpPr txBox="1"/>
          <p:nvPr/>
        </p:nvSpPr>
        <p:spPr>
          <a:xfrm>
            <a:off x="548640" y="4400800"/>
            <a:ext cx="7315201" cy="61672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4400" b="1" spc="40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t>THANK YOU</a:t>
            </a:r>
          </a:p>
        </p:txBody>
      </p:sp>
      <p:sp>
        <p:nvSpPr>
          <p:cNvPr id="273" name="Text 1"/>
          <p:cNvSpPr txBox="1"/>
          <p:nvPr/>
        </p:nvSpPr>
        <p:spPr>
          <a:xfrm>
            <a:off x="548640" y="5198943"/>
            <a:ext cx="7315201" cy="20915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chemeClr val="accent4"/>
                </a:solidFill>
              </a:defRPr>
            </a:lvl1pPr>
          </a:lstStyle>
          <a:p>
            <a:r>
              <a:t>TRIKΛΛL  |  Team ID:   |  bhumiiyadavv755@gmail.com</a:t>
            </a:r>
          </a:p>
        </p:txBody>
      </p:sp>
      <p:sp>
        <p:nvSpPr>
          <p:cNvPr id="274" name="Text 2"/>
          <p:cNvSpPr txBox="1"/>
          <p:nvPr/>
        </p:nvSpPr>
        <p:spPr>
          <a:xfrm>
            <a:off x="548640" y="6102510"/>
            <a:ext cx="7315201" cy="1851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300" b="1" spc="500">
                <a:solidFill>
                  <a:schemeClr val="accen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t>CREATE / AN / IMPACT</a:t>
            </a:r>
          </a:p>
        </p:txBody>
      </p:sp>
      <p:sp>
        <p:nvSpPr>
          <p:cNvPr id="275" name="Project and team card"/>
          <p:cNvSpPr/>
          <p:nvPr/>
        </p:nvSpPr>
        <p:spPr>
          <a:xfrm>
            <a:off x="6949440" y="1371600"/>
            <a:ext cx="4754881" cy="3931921"/>
          </a:xfrm>
          <a:prstGeom prst="roundRect">
            <a:avLst>
              <a:gd name="adj" fmla="val 2449"/>
            </a:avLst>
          </a:prstGeom>
          <a:solidFill>
            <a:srgbClr val="0B1A4A">
              <a:alpha val="75000"/>
            </a:srgbClr>
          </a:solidFill>
          <a:ln w="12700">
            <a:solidFill>
              <a:schemeClr val="accent1"/>
            </a:solidFill>
          </a:ln>
        </p:spPr>
        <p:txBody>
          <a:bodyPr lIns="45719" rIns="45719"/>
          <a:lstStyle/>
          <a:p/>
        </p:txBody>
      </p:sp>
      <p:sp>
        <p:nvSpPr>
          <p:cNvPr id="276" name="Project and team text"/>
          <p:cNvSpPr txBox="1"/>
          <p:nvPr/>
        </p:nvSpPr>
        <p:spPr>
          <a:xfrm>
            <a:off x="7223759" y="1554480"/>
            <a:ext cx="4297681" cy="3423568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spcBef>
                <a:spcPts val="500"/>
              </a:spcBef>
              <a:defRPr sz="1100" b="1" spc="200">
                <a:solidFill>
                  <a:schemeClr val="accen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t>PROJECT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AushNexa</a:t>
            </a:r>
          </a:p>
          <a:p>
            <a:pPr>
              <a:spcBef>
                <a:spcPts val="1200"/>
              </a:spcBef>
              <a:defRPr sz="1300">
                <a:solidFill>
                  <a:schemeClr val="accent4"/>
                </a:solidFill>
              </a:defRPr>
            </a:pPr>
            <a:r>
              <a:t>Prescription Safety Checker for Indian Brand Medicines</a:t>
            </a:r>
          </a:p>
          <a:p>
            <a:pPr>
              <a:spcBef>
                <a:spcPts val="500"/>
              </a:spcBef>
              <a:defRPr sz="1100" b="1" spc="200">
                <a:solidFill>
                  <a:schemeClr val="accen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t>TEAM TRIKΛΛL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Bhumika Yadav</a:t>
            </a:r>
          </a:p>
          <a:p>
            <a:pPr>
              <a:spcBef>
                <a:spcPts val="600"/>
              </a:spcBef>
              <a:defRPr sz="1200">
                <a:solidFill>
                  <a:schemeClr val="accent4"/>
                </a:solidFill>
              </a:defRPr>
            </a:pPr>
            <a:r>
              <a:t>Team Leader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Deshika Sharma</a:t>
            </a:r>
          </a:p>
          <a:p>
            <a:pPr>
              <a:spcBef>
                <a:spcPts val="600"/>
              </a:spcBef>
              <a:defRPr sz="1200">
                <a:solidFill>
                  <a:schemeClr val="accent4"/>
                </a:solidFill>
              </a:defRPr>
            </a:pPr>
            <a:r>
              <a:t>Frontend Developer &amp; API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Nandini Verma</a:t>
            </a:r>
          </a:p>
          <a:p>
            <a:pPr>
              <a:spcBef>
                <a:spcPts val="600"/>
              </a:spcBef>
              <a:defRPr sz="1200">
                <a:solidFill>
                  <a:schemeClr val="accent4"/>
                </a:solidFill>
              </a:defRPr>
            </a:pPr>
            <a:r>
              <a:t>Research &amp; Development and Business Model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Himanshi Upadhyay</a:t>
            </a:r>
          </a:p>
          <a:p>
            <a:pPr>
              <a:spcBef>
                <a:spcPts val="600"/>
              </a:spcBef>
              <a:defRPr sz="1200">
                <a:solidFill>
                  <a:schemeClr val="accent4"/>
                </a:solidFill>
              </a:defRPr>
            </a:pPr>
            <a:r>
              <a:t>Backend Developer &amp; Security</a:t>
            </a:r>
          </a:p>
          <a:p>
            <a:pPr>
              <a:defRPr sz="1100" i="1">
                <a:solidFill>
                  <a:schemeClr val="accent4"/>
                </a:solidFill>
              </a:defRPr>
            </a:pPr>
            <a:r>
              <a:t>Prototype in development. Supports medication review; does not replace qualified professionals.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Hypnexis">
  <a:themeElements>
    <a:clrScheme name="Hypnexis">
      <a:dk1>
        <a:srgbClr val="040A20"/>
      </a:dk1>
      <a:lt1>
        <a:srgbClr val="201F1C"/>
      </a:lt1>
      <a:dk2>
        <a:srgbClr val="A7A7A7"/>
      </a:dk2>
      <a:lt2>
        <a:srgbClr val="535353"/>
      </a:lt2>
      <a:accent1>
        <a:srgbClr val="1E5BFF"/>
      </a:accent1>
      <a:accent2>
        <a:srgbClr val="4DA3FF"/>
      </a:accent2>
      <a:accent3>
        <a:srgbClr val="0A2A8F"/>
      </a:accent3>
      <a:accent4>
        <a:srgbClr val="9CC4FF"/>
      </a:accent4>
      <a:accent5>
        <a:srgbClr val="6C8CFF"/>
      </a:accent5>
      <a:accent6>
        <a:srgbClr val="00C2FF"/>
      </a:accent6>
      <a:hlink>
        <a:srgbClr val="0000FF"/>
      </a:hlink>
      <a:folHlink>
        <a:srgbClr val="FF00FF"/>
      </a:folHlink>
    </a:clrScheme>
    <a:fontScheme name="Hypnexis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Hypnex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40A2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40A2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Hypnexis">
  <a:themeElements>
    <a:clrScheme name="Hypnexis">
      <a:dk1>
        <a:srgbClr val="040A20"/>
      </a:dk1>
      <a:lt1>
        <a:srgbClr val="201F1C"/>
      </a:lt1>
      <a:dk2>
        <a:srgbClr val="A7A7A7"/>
      </a:dk2>
      <a:lt2>
        <a:srgbClr val="535353"/>
      </a:lt2>
      <a:accent1>
        <a:srgbClr val="1E5BFF"/>
      </a:accent1>
      <a:accent2>
        <a:srgbClr val="4DA3FF"/>
      </a:accent2>
      <a:accent3>
        <a:srgbClr val="0A2A8F"/>
      </a:accent3>
      <a:accent4>
        <a:srgbClr val="9CC4FF"/>
      </a:accent4>
      <a:accent5>
        <a:srgbClr val="6C8CFF"/>
      </a:accent5>
      <a:accent6>
        <a:srgbClr val="00C2FF"/>
      </a:accent6>
      <a:hlink>
        <a:srgbClr val="0000FF"/>
      </a:hlink>
      <a:folHlink>
        <a:srgbClr val="FF00FF"/>
      </a:folHlink>
    </a:clrScheme>
    <a:fontScheme name="Hypnexis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Hypnex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40A2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40A2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9188</Words>
  <Application>WPS Presentation</Application>
  <PresentationFormat/>
  <Paragraphs>329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Arial</vt:lpstr>
      <vt:lpstr>SimSun</vt:lpstr>
      <vt:lpstr>Wingdings</vt:lpstr>
      <vt:lpstr>Calibri</vt:lpstr>
      <vt:lpstr>Arial</vt:lpstr>
      <vt:lpstr>Microsoft YaHei</vt:lpstr>
      <vt:lpstr>Arial Unicode MS</vt:lpstr>
      <vt:lpstr>Calibri</vt:lpstr>
      <vt:lpstr>Hypnexis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hp</cp:lastModifiedBy>
  <cp:revision>1</cp:revision>
  <dcterms:created xsi:type="dcterms:W3CDTF">2026-10-24T21:46:13Z</dcterms:created>
  <dcterms:modified xsi:type="dcterms:W3CDTF">2026-10-24T21:46:13Z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67C1394A14F34E1296BC031BE3F89D93_12</vt:lpwstr>
  </property>
  <property fmtid="{D5CDD505-2E9C-101B-9397-08002B2CF9AE}" pid="3" name="KSOProductBuildVer">
    <vt:lpwstr>2057-12.2.0.23206</vt:lpwstr>
  </property>
</Properties>
</file>